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Oval 1"/>
          <p:cNvSpPr/>
          <p:nvPr/>
        </p:nvSpPr>
        <p:spPr>
          <a:xfrm>
            <a:off x="10515600" y="-731520"/>
            <a:ext cx="2743200" cy="2743200"/>
          </a:xfrm>
          <a:prstGeom prst="ellipse">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155680" y="5029200"/>
            <a:ext cx="2286000" cy="2286000"/>
          </a:xfrm>
          <a:prstGeom prst="ellipse">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5303520"/>
            <a:ext cx="1828800" cy="1828800"/>
          </a:xfrm>
          <a:prstGeom prst="ellipse">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82880" y="-274320"/>
            <a:ext cx="1371600" cy="1371600"/>
          </a:xfrm>
          <a:prstGeom prst="ellipse">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828800"/>
            <a:ext cx="164592" cy="320040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828800"/>
            <a:ext cx="9144000" cy="1280160"/>
          </a:xfrm>
          <a:prstGeom prst="rect">
            <a:avLst/>
          </a:prstGeom>
          <a:noFill/>
        </p:spPr>
        <p:txBody>
          <a:bodyPr wrap="square">
            <a:spAutoFit/>
          </a:bodyPr>
          <a:lstStyle/>
          <a:p>
            <a:pPr algn="l"/>
            <a:r>
              <a:rPr sz="5200" b="1" i="0">
                <a:solidFill>
                  <a:srgbClr val="FFFFFF"/>
                </a:solidFill>
                <a:latin typeface="Segoe UI"/>
              </a:rPr>
              <a:t>De Slimste Mens Timer</a:t>
            </a:r>
          </a:p>
        </p:txBody>
      </p:sp>
      <p:sp>
        <p:nvSpPr>
          <p:cNvPr id="8" name="TextBox 7"/>
          <p:cNvSpPr txBox="1"/>
          <p:nvPr/>
        </p:nvSpPr>
        <p:spPr>
          <a:xfrm>
            <a:off x="457200" y="3200400"/>
            <a:ext cx="9144000" cy="640080"/>
          </a:xfrm>
          <a:prstGeom prst="rect">
            <a:avLst/>
          </a:prstGeom>
          <a:noFill/>
        </p:spPr>
        <p:txBody>
          <a:bodyPr wrap="square">
            <a:spAutoFit/>
          </a:bodyPr>
          <a:lstStyle/>
          <a:p>
            <a:pPr algn="l"/>
            <a:r>
              <a:rPr sz="2400" b="0" i="0">
                <a:solidFill>
                  <a:srgbClr val="FFA726"/>
                </a:solidFill>
                <a:latin typeface="Segoe UI"/>
              </a:rPr>
              <a:t>From solo Android app to multiplayer scoreboard</a:t>
            </a:r>
          </a:p>
        </p:txBody>
      </p:sp>
      <p:sp>
        <p:nvSpPr>
          <p:cNvPr id="9" name="TextBox 8"/>
          <p:cNvSpPr txBox="1"/>
          <p:nvPr/>
        </p:nvSpPr>
        <p:spPr>
          <a:xfrm>
            <a:off x="457200" y="5943600"/>
            <a:ext cx="9144000" cy="457200"/>
          </a:xfrm>
          <a:prstGeom prst="rect">
            <a:avLst/>
          </a:prstGeom>
          <a:noFill/>
        </p:spPr>
        <p:txBody>
          <a:bodyPr wrap="square">
            <a:spAutoFit/>
          </a:bodyPr>
          <a:lstStyle/>
          <a:p>
            <a:pPr algn="l"/>
            <a:r>
              <a:rPr sz="1600" b="0" i="1">
                <a:solidFill>
                  <a:srgbClr val="FFD080"/>
                </a:solidFill>
                <a:latin typeface="Segoe UI"/>
              </a:rPr>
              <a:t>Built entirely with Claude Code  ·  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What is it?</a:t>
            </a:r>
          </a:p>
        </p:txBody>
      </p:sp>
      <p:sp>
        <p:nvSpPr>
          <p:cNvPr id="5" name="TextBox 4"/>
          <p:cNvSpPr txBox="1"/>
          <p:nvPr/>
        </p:nvSpPr>
        <p:spPr>
          <a:xfrm>
            <a:off x="457200" y="1097280"/>
            <a:ext cx="11247120" cy="731520"/>
          </a:xfrm>
          <a:prstGeom prst="rect">
            <a:avLst/>
          </a:prstGeom>
          <a:noFill/>
        </p:spPr>
        <p:txBody>
          <a:bodyPr wrap="square">
            <a:spAutoFit/>
          </a:bodyPr>
          <a:lstStyle/>
          <a:p>
            <a:pPr algn="l"/>
            <a:r>
              <a:rPr sz="1800" b="0" i="0">
                <a:solidFill>
                  <a:srgbClr val="FFFFFF"/>
                </a:solidFill>
                <a:latin typeface="Segoe UI"/>
              </a:rPr>
              <a:t>A digital replacement for the physical timer devices in the Dutch board game
De Slimste Mens (The Smartest Person).</a:t>
            </a:r>
          </a:p>
        </p:txBody>
      </p:sp>
      <p:sp>
        <p:nvSpPr>
          <p:cNvPr id="6" name="Rectangle 5"/>
          <p:cNvSpPr/>
          <p:nvPr/>
        </p:nvSpPr>
        <p:spPr>
          <a:xfrm>
            <a:off x="365760" y="1920240"/>
            <a:ext cx="5394960" cy="347472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11680"/>
            <a:ext cx="5029200" cy="457200"/>
          </a:xfrm>
          <a:prstGeom prst="rect">
            <a:avLst/>
          </a:prstGeom>
          <a:noFill/>
        </p:spPr>
        <p:txBody>
          <a:bodyPr wrap="square">
            <a:spAutoFit/>
          </a:bodyPr>
          <a:lstStyle/>
          <a:p>
            <a:pPr algn="l"/>
            <a:r>
              <a:rPr sz="1800" b="1" i="0">
                <a:solidFill>
                  <a:srgbClr val="FFA726"/>
                </a:solidFill>
                <a:latin typeface="Segoe UI"/>
              </a:rPr>
              <a:t>Phase 1 — Android App</a:t>
            </a:r>
          </a:p>
        </p:txBody>
      </p:sp>
      <p:sp>
        <p:nvSpPr>
          <p:cNvPr id="8" name="TextBox 7"/>
          <p:cNvSpPr txBox="1"/>
          <p:nvPr/>
        </p:nvSpPr>
        <p:spPr>
          <a:xfrm>
            <a:off x="548640" y="2514600"/>
            <a:ext cx="5029200" cy="2743200"/>
          </a:xfrm>
          <a:prstGeom prst="rect">
            <a:avLst/>
          </a:prstGeom>
          <a:noFill/>
        </p:spPr>
        <p:txBody>
          <a:bodyPr wrap="square">
            <a:spAutoFit/>
          </a:bodyPr>
          <a:lstStyle/>
          <a:p>
            <a:pPr>
              <a:spcBef>
                <a:spcPts val="400"/>
              </a:spcBef>
            </a:pPr>
            <a:r>
              <a:rPr sz="1600">
                <a:solidFill>
                  <a:srgbClr val="FFFFFF"/>
                </a:solidFill>
                <a:latin typeface="Segoe UI"/>
              </a:rPr>
              <a:t>•  60-second countdown timer</a:t>
            </a:r>
          </a:p>
          <a:p>
            <a:pPr>
              <a:spcBef>
                <a:spcPts val="400"/>
              </a:spcBef>
            </a:pPr>
            <a:r>
              <a:rPr sz="1600">
                <a:solidFill>
                  <a:srgbClr val="FFFFFF"/>
                </a:solidFill>
                <a:latin typeface="Segoe UI"/>
              </a:rPr>
              <a:t>•  Start / Stop toggle</a:t>
            </a:r>
          </a:p>
          <a:p>
            <a:pPr>
              <a:spcBef>
                <a:spcPts val="400"/>
              </a:spcBef>
            </a:pPr>
            <a:r>
              <a:rPr sz="1600">
                <a:solidFill>
                  <a:srgbClr val="FFFFFF"/>
                </a:solidFill>
                <a:latin typeface="Segoe UI"/>
              </a:rPr>
              <a:t>•  +20 and −20 score buttons</a:t>
            </a:r>
          </a:p>
          <a:p>
            <a:pPr>
              <a:spcBef>
                <a:spcPts val="400"/>
              </a:spcBef>
            </a:pPr>
            <a:r>
              <a:rPr sz="1600">
                <a:solidFill>
                  <a:srgbClr val="FFFFFF"/>
                </a:solidFill>
                <a:latin typeface="Segoe UI"/>
              </a:rPr>
              <a:t>•  Hamburger menu (reset, set score, exit)</a:t>
            </a:r>
          </a:p>
          <a:p>
            <a:pPr>
              <a:spcBef>
                <a:spcPts val="400"/>
              </a:spcBef>
            </a:pPr>
            <a:r>
              <a:rPr sz="1600">
                <a:solidFill>
                  <a:srgbClr val="FFFFFF"/>
                </a:solidFill>
                <a:latin typeface="Segoe UI"/>
              </a:rPr>
              <a:t>•  Portrait-only, dark red / orange palette</a:t>
            </a:r>
          </a:p>
          <a:p>
            <a:pPr>
              <a:spcBef>
                <a:spcPts val="400"/>
              </a:spcBef>
            </a:pPr>
            <a:r>
              <a:rPr sz="1600">
                <a:solidFill>
                  <a:srgbClr val="FFFFFF"/>
                </a:solidFill>
                <a:latin typeface="Segoe UI"/>
              </a:rPr>
              <a:t>•  Works fully standalone — no server needed</a:t>
            </a:r>
          </a:p>
        </p:txBody>
      </p:sp>
      <p:sp>
        <p:nvSpPr>
          <p:cNvPr id="9" name="Rectangle 8"/>
          <p:cNvSpPr/>
          <p:nvPr/>
        </p:nvSpPr>
        <p:spPr>
          <a:xfrm>
            <a:off x="6309360" y="1920240"/>
            <a:ext cx="5394960" cy="347472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011680"/>
            <a:ext cx="5029200" cy="457200"/>
          </a:xfrm>
          <a:prstGeom prst="rect">
            <a:avLst/>
          </a:prstGeom>
          <a:noFill/>
        </p:spPr>
        <p:txBody>
          <a:bodyPr wrap="square">
            <a:spAutoFit/>
          </a:bodyPr>
          <a:lstStyle/>
          <a:p>
            <a:pPr algn="l"/>
            <a:r>
              <a:rPr sz="1800" b="1" i="0">
                <a:solidFill>
                  <a:srgbClr val="FFA726"/>
                </a:solidFill>
                <a:latin typeface="Segoe UI"/>
              </a:rPr>
              <a:t>Phase 2 — Multiplayer Extension</a:t>
            </a:r>
          </a:p>
        </p:txBody>
      </p:sp>
      <p:sp>
        <p:nvSpPr>
          <p:cNvPr id="11" name="TextBox 10"/>
          <p:cNvSpPr txBox="1"/>
          <p:nvPr/>
        </p:nvSpPr>
        <p:spPr>
          <a:xfrm>
            <a:off x="6492240" y="2514600"/>
            <a:ext cx="5029200" cy="2743200"/>
          </a:xfrm>
          <a:prstGeom prst="rect">
            <a:avLst/>
          </a:prstGeom>
          <a:noFill/>
        </p:spPr>
        <p:txBody>
          <a:bodyPr wrap="square">
            <a:spAutoFit/>
          </a:bodyPr>
          <a:lstStyle/>
          <a:p>
            <a:pPr>
              <a:spcBef>
                <a:spcPts val="400"/>
              </a:spcBef>
            </a:pPr>
            <a:r>
              <a:rPr sz="1600">
                <a:solidFill>
                  <a:srgbClr val="FFFFFF"/>
                </a:solidFill>
                <a:latin typeface="Segoe UI"/>
              </a:rPr>
              <a:t>•  ASP.NET Core 8 web server</a:t>
            </a:r>
          </a:p>
          <a:p>
            <a:pPr>
              <a:spcBef>
                <a:spcPts val="400"/>
              </a:spcBef>
            </a:pPr>
            <a:r>
              <a:rPr sz="1600">
                <a:solidFill>
                  <a:srgbClr val="FFFFFF"/>
                </a:solidFill>
                <a:latin typeface="Segoe UI"/>
              </a:rPr>
              <a:t>•  Browser scoreboard — live score tiles</a:t>
            </a:r>
          </a:p>
          <a:p>
            <a:pPr>
              <a:spcBef>
                <a:spcPts val="400"/>
              </a:spcBef>
            </a:pPr>
            <a:r>
              <a:rPr sz="1600">
                <a:solidFill>
                  <a:srgbClr val="FFFFFF"/>
                </a:solidFill>
                <a:latin typeface="Segoe UI"/>
              </a:rPr>
              <a:t>•  Players join via QR code scan</a:t>
            </a:r>
          </a:p>
          <a:p>
            <a:pPr>
              <a:spcBef>
                <a:spcPts val="400"/>
              </a:spcBef>
            </a:pPr>
            <a:r>
              <a:rPr sz="1600">
                <a:solidFill>
                  <a:srgbClr val="FFFFFF"/>
                </a:solidFill>
                <a:latin typeface="Segoe UI"/>
              </a:rPr>
              <a:t>•  SignalR for real-time browser updates</a:t>
            </a:r>
          </a:p>
          <a:p>
            <a:pPr>
              <a:spcBef>
                <a:spcPts val="400"/>
              </a:spcBef>
            </a:pPr>
            <a:r>
              <a:rPr sz="1600">
                <a:solidFill>
                  <a:srgbClr val="FFFFFF"/>
                </a:solidFill>
                <a:latin typeface="Segoe UI"/>
              </a:rPr>
              <a:t>•  App pushes scores via plain HTTP</a:t>
            </a:r>
          </a:p>
          <a:p>
            <a:pPr>
              <a:spcBef>
                <a:spcPts val="400"/>
              </a:spcBef>
            </a:pPr>
            <a:r>
              <a:rPr sz="1600">
                <a:solidFill>
                  <a:srgbClr val="FFFFFF"/>
                </a:solidFill>
                <a:latin typeface="Segoe UI"/>
              </a:rPr>
              <a:t>•  Server connectivity is optional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The Original Prompt</a:t>
            </a:r>
          </a:p>
        </p:txBody>
      </p:sp>
      <p:sp>
        <p:nvSpPr>
          <p:cNvPr id="5" name="Rectangle 4"/>
          <p:cNvSpPr/>
          <p:nvPr/>
        </p:nvSpPr>
        <p:spPr>
          <a:xfrm>
            <a:off x="365760" y="1051560"/>
            <a:ext cx="54864" cy="502920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97280"/>
            <a:ext cx="10972800" cy="5029200"/>
          </a:xfrm>
          <a:prstGeom prst="rect">
            <a:avLst/>
          </a:prstGeom>
          <a:noFill/>
        </p:spPr>
        <p:txBody>
          <a:bodyPr wrap="square">
            <a:spAutoFit/>
          </a:bodyPr>
          <a:lstStyle/>
          <a:p>
            <a:pPr algn="l"/>
            <a:r>
              <a:rPr sz="1600" b="0" i="1">
                <a:solidFill>
                  <a:srgbClr val="FFFFFF"/>
                </a:solidFill>
                <a:latin typeface="Segoe UI"/>
              </a:rPr>
              <a:t>"I want to build an android app built with Delphi / Firemonkey to be used in conjunction with the 'De Slimste Mens' board game. The app will be a replacement for the board games own timer devices.
The timer / scoring app is a simple app with a countdown timer that is initially set to 60 seconds. When pressing the start/stop button, the score starts counting down at 1 point per second. When pressed again, the timer stops counting down. There are 2 more buttons, marked +20 and -20, which add or subtract 20 seconds / points from the current score.
The app will only have to have a portrait oriented layout. The layout of the screen is so that the score is displayed more prominently at the top, centered in the screen. The 3 buttons are below that. From left to right they are +20, start/stop, -20. The background is a slightly darker red. The score and text on the buttons is white. The buttons themselves are round, and slightly orange/yellow in color."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Phase 1 — Android App  ·  Steps 1–4</a:t>
            </a:r>
          </a:p>
        </p:txBody>
      </p:sp>
      <p:sp>
        <p:nvSpPr>
          <p:cNvPr id="5" name="Rectangle 4"/>
          <p:cNvSpPr/>
          <p:nvPr/>
        </p:nvSpPr>
        <p:spPr>
          <a:xfrm>
            <a:off x="365760" y="1097280"/>
            <a:ext cx="11338560" cy="118872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97280"/>
            <a:ext cx="640080" cy="11887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80160"/>
            <a:ext cx="640080" cy="731520"/>
          </a:xfrm>
          <a:prstGeom prst="rect">
            <a:avLst/>
          </a:prstGeom>
          <a:noFill/>
        </p:spPr>
        <p:txBody>
          <a:bodyPr wrap="square">
            <a:spAutoFit/>
          </a:bodyPr>
          <a:lstStyle/>
          <a:p>
            <a:pPr algn="ctr"/>
            <a:r>
              <a:rPr sz="3200" b="1" i="0">
                <a:solidFill>
                  <a:srgbClr val="FFFFFF"/>
                </a:solidFill>
                <a:latin typeface="Segoe UI"/>
              </a:rPr>
              <a:t>1</a:t>
            </a:r>
          </a:p>
        </p:txBody>
      </p:sp>
      <p:sp>
        <p:nvSpPr>
          <p:cNvPr id="8" name="TextBox 7"/>
          <p:cNvSpPr txBox="1"/>
          <p:nvPr/>
        </p:nvSpPr>
        <p:spPr>
          <a:xfrm>
            <a:off x="1143000" y="1170432"/>
            <a:ext cx="10332720" cy="411480"/>
          </a:xfrm>
          <a:prstGeom prst="rect">
            <a:avLst/>
          </a:prstGeom>
          <a:noFill/>
        </p:spPr>
        <p:txBody>
          <a:bodyPr wrap="square">
            <a:spAutoFit/>
          </a:bodyPr>
          <a:lstStyle/>
          <a:p>
            <a:pPr algn="l"/>
            <a:r>
              <a:rPr sz="1800" b="1" i="0">
                <a:solidFill>
                  <a:srgbClr val="FFA726"/>
                </a:solidFill>
                <a:latin typeface="Segoe UI"/>
              </a:rPr>
              <a:t>Project Scaffolding</a:t>
            </a:r>
          </a:p>
        </p:txBody>
      </p:sp>
      <p:sp>
        <p:nvSpPr>
          <p:cNvPr id="9" name="TextBox 8"/>
          <p:cNvSpPr txBox="1"/>
          <p:nvPr/>
        </p:nvSpPr>
        <p:spPr>
          <a:xfrm>
            <a:off x="1143000" y="1572768"/>
            <a:ext cx="10332720" cy="640080"/>
          </a:xfrm>
          <a:prstGeom prst="rect">
            <a:avLst/>
          </a:prstGeom>
          <a:noFill/>
        </p:spPr>
        <p:txBody>
          <a:bodyPr wrap="square">
            <a:spAutoFit/>
          </a:bodyPr>
          <a:lstStyle/>
          <a:p>
            <a:pPr algn="l"/>
            <a:r>
              <a:rPr sz="1400" b="0" i="0">
                <a:solidFill>
                  <a:srgbClr val="FFFFFF"/>
                </a:solidFill>
                <a:latin typeface="Segoe UI"/>
              </a:rPr>
              <a:t>SlimsteMensTimer.dpr + .dproj · Android target · Portrait lock
Debug + Release configs · empty MainFrm ready for UI</a:t>
            </a:r>
          </a:p>
        </p:txBody>
      </p:sp>
      <p:sp>
        <p:nvSpPr>
          <p:cNvPr id="10" name="Rectangle 9"/>
          <p:cNvSpPr/>
          <p:nvPr/>
        </p:nvSpPr>
        <p:spPr>
          <a:xfrm>
            <a:off x="365760" y="2423160"/>
            <a:ext cx="11338560" cy="118872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423160"/>
            <a:ext cx="640080" cy="11887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606040"/>
            <a:ext cx="640080" cy="731520"/>
          </a:xfrm>
          <a:prstGeom prst="rect">
            <a:avLst/>
          </a:prstGeom>
          <a:noFill/>
        </p:spPr>
        <p:txBody>
          <a:bodyPr wrap="square">
            <a:spAutoFit/>
          </a:bodyPr>
          <a:lstStyle/>
          <a:p>
            <a:pPr algn="ctr"/>
            <a:r>
              <a:rPr sz="3200" b="1" i="0">
                <a:solidFill>
                  <a:srgbClr val="FFFFFF"/>
                </a:solidFill>
                <a:latin typeface="Segoe UI"/>
              </a:rPr>
              <a:t>2</a:t>
            </a:r>
          </a:p>
        </p:txBody>
      </p:sp>
      <p:sp>
        <p:nvSpPr>
          <p:cNvPr id="13" name="TextBox 12"/>
          <p:cNvSpPr txBox="1"/>
          <p:nvPr/>
        </p:nvSpPr>
        <p:spPr>
          <a:xfrm>
            <a:off x="1143000" y="2496312"/>
            <a:ext cx="10332720" cy="411480"/>
          </a:xfrm>
          <a:prstGeom prst="rect">
            <a:avLst/>
          </a:prstGeom>
          <a:noFill/>
        </p:spPr>
        <p:txBody>
          <a:bodyPr wrap="square">
            <a:spAutoFit/>
          </a:bodyPr>
          <a:lstStyle/>
          <a:p>
            <a:pPr algn="l"/>
            <a:r>
              <a:rPr sz="1800" b="1" i="0">
                <a:solidFill>
                  <a:srgbClr val="FFA726"/>
                </a:solidFill>
                <a:latin typeface="Segoe UI"/>
              </a:rPr>
              <a:t>UI Layout</a:t>
            </a:r>
          </a:p>
        </p:txBody>
      </p:sp>
      <p:sp>
        <p:nvSpPr>
          <p:cNvPr id="14" name="TextBox 13"/>
          <p:cNvSpPr txBox="1"/>
          <p:nvPr/>
        </p:nvSpPr>
        <p:spPr>
          <a:xfrm>
            <a:off x="1143000" y="2898648"/>
            <a:ext cx="10332720" cy="640080"/>
          </a:xfrm>
          <a:prstGeom prst="rect">
            <a:avLst/>
          </a:prstGeom>
          <a:noFill/>
        </p:spPr>
        <p:txBody>
          <a:bodyPr wrap="square">
            <a:spAutoFit/>
          </a:bodyPr>
          <a:lstStyle/>
          <a:p>
            <a:pPr algn="l"/>
            <a:r>
              <a:rPr sz="1400" b="0" i="0">
                <a:solidFill>
                  <a:srgbClr val="FFFFFF"/>
                </a:solidFill>
                <a:latin typeface="Segoe UI"/>
              </a:rPr>
              <a:t>rectBackground dark red #B71C1C · lblScore large white centered
btnMinus20, btnStartStop, btnPlus20 — round orange #FFA726</a:t>
            </a:r>
          </a:p>
        </p:txBody>
      </p:sp>
      <p:sp>
        <p:nvSpPr>
          <p:cNvPr id="15" name="Rectangle 14"/>
          <p:cNvSpPr/>
          <p:nvPr/>
        </p:nvSpPr>
        <p:spPr>
          <a:xfrm>
            <a:off x="365760" y="3749040"/>
            <a:ext cx="11338560" cy="118872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749040"/>
            <a:ext cx="640080" cy="11887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931920"/>
            <a:ext cx="640080" cy="731520"/>
          </a:xfrm>
          <a:prstGeom prst="rect">
            <a:avLst/>
          </a:prstGeom>
          <a:noFill/>
        </p:spPr>
        <p:txBody>
          <a:bodyPr wrap="square">
            <a:spAutoFit/>
          </a:bodyPr>
          <a:lstStyle/>
          <a:p>
            <a:pPr algn="ctr"/>
            <a:r>
              <a:rPr sz="3200" b="1" i="0">
                <a:solidFill>
                  <a:srgbClr val="FFFFFF"/>
                </a:solidFill>
                <a:latin typeface="Segoe UI"/>
              </a:rPr>
              <a:t>3</a:t>
            </a:r>
          </a:p>
        </p:txBody>
      </p:sp>
      <p:sp>
        <p:nvSpPr>
          <p:cNvPr id="18" name="TextBox 17"/>
          <p:cNvSpPr txBox="1"/>
          <p:nvPr/>
        </p:nvSpPr>
        <p:spPr>
          <a:xfrm>
            <a:off x="1143000" y="3822192"/>
            <a:ext cx="10332720" cy="411480"/>
          </a:xfrm>
          <a:prstGeom prst="rect">
            <a:avLst/>
          </a:prstGeom>
          <a:noFill/>
        </p:spPr>
        <p:txBody>
          <a:bodyPr wrap="square">
            <a:spAutoFit/>
          </a:bodyPr>
          <a:lstStyle/>
          <a:p>
            <a:pPr algn="l"/>
            <a:r>
              <a:rPr sz="1800" b="1" i="0">
                <a:solidFill>
                  <a:srgbClr val="FFA726"/>
                </a:solidFill>
                <a:latin typeface="Segoe UI"/>
              </a:rPr>
              <a:t>Timer Logic</a:t>
            </a:r>
          </a:p>
        </p:txBody>
      </p:sp>
      <p:sp>
        <p:nvSpPr>
          <p:cNvPr id="19" name="TextBox 18"/>
          <p:cNvSpPr txBox="1"/>
          <p:nvPr/>
        </p:nvSpPr>
        <p:spPr>
          <a:xfrm>
            <a:off x="1143000" y="4224528"/>
            <a:ext cx="10332720" cy="640080"/>
          </a:xfrm>
          <a:prstGeom prst="rect">
            <a:avLst/>
          </a:prstGeom>
          <a:noFill/>
        </p:spPr>
        <p:txBody>
          <a:bodyPr wrap="square">
            <a:spAutoFit/>
          </a:bodyPr>
          <a:lstStyle/>
          <a:p>
            <a:pPr algn="l"/>
            <a:r>
              <a:rPr sz="1400" b="0" i="0">
                <a:solidFill>
                  <a:srgbClr val="FFFFFF"/>
                </a:solidFill>
                <a:latin typeface="Segoe UI"/>
              </a:rPr>
              <a:t>tmrCountdown: TTimer (1 s) · decrements score · clamps to 0
txtStartStopClick toggles enabled state + button label</a:t>
            </a:r>
          </a:p>
        </p:txBody>
      </p:sp>
      <p:sp>
        <p:nvSpPr>
          <p:cNvPr id="20" name="Rectangle 19"/>
          <p:cNvSpPr/>
          <p:nvPr/>
        </p:nvSpPr>
        <p:spPr>
          <a:xfrm>
            <a:off x="365760" y="5074920"/>
            <a:ext cx="11338560" cy="118872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5074920"/>
            <a:ext cx="640080" cy="11887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5257800"/>
            <a:ext cx="640080" cy="731520"/>
          </a:xfrm>
          <a:prstGeom prst="rect">
            <a:avLst/>
          </a:prstGeom>
          <a:noFill/>
        </p:spPr>
        <p:txBody>
          <a:bodyPr wrap="square">
            <a:spAutoFit/>
          </a:bodyPr>
          <a:lstStyle/>
          <a:p>
            <a:pPr algn="ctr"/>
            <a:r>
              <a:rPr sz="3200" b="1" i="0">
                <a:solidFill>
                  <a:srgbClr val="FFFFFF"/>
                </a:solidFill>
                <a:latin typeface="Segoe UI"/>
              </a:rPr>
              <a:t>4</a:t>
            </a:r>
          </a:p>
        </p:txBody>
      </p:sp>
      <p:sp>
        <p:nvSpPr>
          <p:cNvPr id="23" name="TextBox 22"/>
          <p:cNvSpPr txBox="1"/>
          <p:nvPr/>
        </p:nvSpPr>
        <p:spPr>
          <a:xfrm>
            <a:off x="1143000" y="5148072"/>
            <a:ext cx="10332720" cy="411480"/>
          </a:xfrm>
          <a:prstGeom prst="rect">
            <a:avLst/>
          </a:prstGeom>
          <a:noFill/>
        </p:spPr>
        <p:txBody>
          <a:bodyPr wrap="square">
            <a:spAutoFit/>
          </a:bodyPr>
          <a:lstStyle/>
          <a:p>
            <a:pPr algn="l"/>
            <a:r>
              <a:rPr sz="1800" b="1" i="0">
                <a:solidFill>
                  <a:srgbClr val="FFA726"/>
                </a:solidFill>
                <a:latin typeface="Segoe UI"/>
              </a:rPr>
              <a:t>Style Refinement</a:t>
            </a:r>
          </a:p>
        </p:txBody>
      </p:sp>
      <p:sp>
        <p:nvSpPr>
          <p:cNvPr id="24" name="TextBox 23"/>
          <p:cNvSpPr txBox="1"/>
          <p:nvPr/>
        </p:nvSpPr>
        <p:spPr>
          <a:xfrm>
            <a:off x="1143000" y="5550408"/>
            <a:ext cx="10332720" cy="640080"/>
          </a:xfrm>
          <a:prstGeom prst="rect">
            <a:avLst/>
          </a:prstGeom>
          <a:noFill/>
        </p:spPr>
        <p:txBody>
          <a:bodyPr wrap="square">
            <a:spAutoFit/>
          </a:bodyPr>
          <a:lstStyle/>
          <a:p>
            <a:pPr algn="l"/>
            <a:r>
              <a:rPr sz="1400" b="0" i="0">
                <a:solidFill>
                  <a:srgbClr val="FFFFFF"/>
                </a:solidFill>
                <a:latin typeface="Segoe UI"/>
              </a:rPr>
              <a:t>Score font 120 pt → 150 pt · button sizing + spacing
Anchors set for Android screen size responsiveness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Phase 1 — Android App  ·  Steps 5–7</a:t>
            </a:r>
          </a:p>
        </p:txBody>
      </p:sp>
      <p:sp>
        <p:nvSpPr>
          <p:cNvPr id="5" name="Rectangle 4"/>
          <p:cNvSpPr/>
          <p:nvPr/>
        </p:nvSpPr>
        <p:spPr>
          <a:xfrm>
            <a:off x="365760" y="1097280"/>
            <a:ext cx="11338560" cy="146304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97280"/>
            <a:ext cx="640080" cy="146304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25880"/>
            <a:ext cx="640080" cy="731520"/>
          </a:xfrm>
          <a:prstGeom prst="rect">
            <a:avLst/>
          </a:prstGeom>
          <a:noFill/>
        </p:spPr>
        <p:txBody>
          <a:bodyPr wrap="square">
            <a:spAutoFit/>
          </a:bodyPr>
          <a:lstStyle/>
          <a:p>
            <a:pPr algn="ctr"/>
            <a:r>
              <a:rPr sz="3200" b="1" i="0">
                <a:solidFill>
                  <a:srgbClr val="FFFFFF"/>
                </a:solidFill>
                <a:latin typeface="Segoe UI"/>
              </a:rPr>
              <a:t>5</a:t>
            </a:r>
          </a:p>
        </p:txBody>
      </p:sp>
      <p:sp>
        <p:nvSpPr>
          <p:cNvPr id="8" name="TextBox 7"/>
          <p:cNvSpPr txBox="1"/>
          <p:nvPr/>
        </p:nvSpPr>
        <p:spPr>
          <a:xfrm>
            <a:off x="1143000" y="1170432"/>
            <a:ext cx="10332720" cy="411480"/>
          </a:xfrm>
          <a:prstGeom prst="rect">
            <a:avLst/>
          </a:prstGeom>
          <a:noFill/>
        </p:spPr>
        <p:txBody>
          <a:bodyPr wrap="square">
            <a:spAutoFit/>
          </a:bodyPr>
          <a:lstStyle/>
          <a:p>
            <a:pPr algn="l"/>
            <a:r>
              <a:rPr sz="1800" b="1" i="0">
                <a:solidFill>
                  <a:srgbClr val="FFA726"/>
                </a:solidFill>
                <a:latin typeface="Segoe UI"/>
              </a:rPr>
              <a:t>Hamburger Menu</a:t>
            </a:r>
          </a:p>
        </p:txBody>
      </p:sp>
      <p:sp>
        <p:nvSpPr>
          <p:cNvPr id="9" name="TextBox 8"/>
          <p:cNvSpPr txBox="1"/>
          <p:nvPr/>
        </p:nvSpPr>
        <p:spPr>
          <a:xfrm>
            <a:off x="1143000" y="1572768"/>
            <a:ext cx="10332720" cy="822960"/>
          </a:xfrm>
          <a:prstGeom prst="rect">
            <a:avLst/>
          </a:prstGeom>
          <a:noFill/>
        </p:spPr>
        <p:txBody>
          <a:bodyPr wrap="square">
            <a:spAutoFit/>
          </a:bodyPr>
          <a:lstStyle/>
          <a:p>
            <a:pPr algn="l"/>
            <a:r>
              <a:rPr sz="1400" b="0" i="0">
                <a:solidFill>
                  <a:srgbClr val="FFFFFF"/>
                </a:solidFill>
                <a:latin typeface="Segoe UI"/>
              </a:rPr>
              <a:t>btnMenu (☰) top-left toggles pnlMenu panel  ·  Reset score (→ 60, stops timer)
Score instellen: TDialogService.InputQuery, validates 0–1000  ·  Afsluiten: Application.Terminate</a:t>
            </a:r>
          </a:p>
        </p:txBody>
      </p:sp>
      <p:sp>
        <p:nvSpPr>
          <p:cNvPr id="10" name="Rectangle 9"/>
          <p:cNvSpPr/>
          <p:nvPr/>
        </p:nvSpPr>
        <p:spPr>
          <a:xfrm>
            <a:off x="365760" y="2743200"/>
            <a:ext cx="11338560" cy="173736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743200"/>
            <a:ext cx="640080" cy="173736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3017520"/>
            <a:ext cx="640080" cy="731520"/>
          </a:xfrm>
          <a:prstGeom prst="rect">
            <a:avLst/>
          </a:prstGeom>
          <a:noFill/>
        </p:spPr>
        <p:txBody>
          <a:bodyPr wrap="square">
            <a:spAutoFit/>
          </a:bodyPr>
          <a:lstStyle/>
          <a:p>
            <a:pPr algn="ctr"/>
            <a:r>
              <a:rPr sz="3200" b="1" i="0">
                <a:solidFill>
                  <a:srgbClr val="FFFFFF"/>
                </a:solidFill>
                <a:latin typeface="Segoe UI"/>
              </a:rPr>
              <a:t>6</a:t>
            </a:r>
          </a:p>
        </p:txBody>
      </p:sp>
      <p:sp>
        <p:nvSpPr>
          <p:cNvPr id="13" name="TextBox 12"/>
          <p:cNvSpPr txBox="1"/>
          <p:nvPr/>
        </p:nvSpPr>
        <p:spPr>
          <a:xfrm>
            <a:off x="1143000" y="2816352"/>
            <a:ext cx="10332720" cy="411480"/>
          </a:xfrm>
          <a:prstGeom prst="rect">
            <a:avLst/>
          </a:prstGeom>
          <a:noFill/>
        </p:spPr>
        <p:txBody>
          <a:bodyPr wrap="square">
            <a:spAutoFit/>
          </a:bodyPr>
          <a:lstStyle/>
          <a:p>
            <a:pPr algn="l"/>
            <a:r>
              <a:rPr sz="1800" b="1" i="0">
                <a:solidFill>
                  <a:srgbClr val="FFA726"/>
                </a:solidFill>
                <a:latin typeface="Segoe UI"/>
              </a:rPr>
              <a:t>ScoreManager Class</a:t>
            </a:r>
          </a:p>
        </p:txBody>
      </p:sp>
      <p:sp>
        <p:nvSpPr>
          <p:cNvPr id="14" name="TextBox 13"/>
          <p:cNvSpPr txBox="1"/>
          <p:nvPr/>
        </p:nvSpPr>
        <p:spPr>
          <a:xfrm>
            <a:off x="1143000" y="3218688"/>
            <a:ext cx="10332720" cy="1188720"/>
          </a:xfrm>
          <a:prstGeom prst="rect">
            <a:avLst/>
          </a:prstGeom>
          <a:noFill/>
        </p:spPr>
        <p:txBody>
          <a:bodyPr wrap="square">
            <a:spAutoFit/>
          </a:bodyPr>
          <a:lstStyle/>
          <a:p>
            <a:pPr algn="l"/>
            <a:r>
              <a:rPr sz="1400" b="0" i="0">
                <a:solidFill>
                  <a:srgbClr val="FFFFFF"/>
                </a:solidFill>
                <a:latin typeface="Segoe UI"/>
              </a:rPr>
              <a:t>IScoreManager interface · TScoreManager (TInterfacedObject)
Increase (uncapped) · Decrease (clamps to 0) · SetScore (raises EArgumentOutOfRangeException)
Reset → 60  ·  Decorator-ready: FScoreManager: IScoreManager swappable at runtime</a:t>
            </a:r>
          </a:p>
        </p:txBody>
      </p:sp>
      <p:sp>
        <p:nvSpPr>
          <p:cNvPr id="15" name="Rectangle 14"/>
          <p:cNvSpPr/>
          <p:nvPr/>
        </p:nvSpPr>
        <p:spPr>
          <a:xfrm>
            <a:off x="365760" y="4663440"/>
            <a:ext cx="11338560" cy="155448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4663440"/>
            <a:ext cx="640080" cy="155448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4892040"/>
            <a:ext cx="640080" cy="731520"/>
          </a:xfrm>
          <a:prstGeom prst="rect">
            <a:avLst/>
          </a:prstGeom>
          <a:noFill/>
        </p:spPr>
        <p:txBody>
          <a:bodyPr wrap="square">
            <a:spAutoFit/>
          </a:bodyPr>
          <a:lstStyle/>
          <a:p>
            <a:pPr algn="ctr"/>
            <a:r>
              <a:rPr sz="3200" b="1" i="0">
                <a:solidFill>
                  <a:srgbClr val="FFFFFF"/>
                </a:solidFill>
                <a:latin typeface="Segoe UI"/>
              </a:rPr>
              <a:t>7</a:t>
            </a:r>
          </a:p>
        </p:txBody>
      </p:sp>
      <p:sp>
        <p:nvSpPr>
          <p:cNvPr id="18" name="TextBox 17"/>
          <p:cNvSpPr txBox="1"/>
          <p:nvPr/>
        </p:nvSpPr>
        <p:spPr>
          <a:xfrm>
            <a:off x="1143000" y="4736592"/>
            <a:ext cx="10332720" cy="411480"/>
          </a:xfrm>
          <a:prstGeom prst="rect">
            <a:avLst/>
          </a:prstGeom>
          <a:noFill/>
        </p:spPr>
        <p:txBody>
          <a:bodyPr wrap="square">
            <a:spAutoFit/>
          </a:bodyPr>
          <a:lstStyle/>
          <a:p>
            <a:pPr algn="l"/>
            <a:r>
              <a:rPr sz="1800" b="1" i="0">
                <a:solidFill>
                  <a:srgbClr val="FFA726"/>
                </a:solidFill>
                <a:latin typeface="Segoe UI"/>
              </a:rPr>
              <a:t>DUnitX Unit Tests — 20 tests</a:t>
            </a:r>
          </a:p>
        </p:txBody>
      </p:sp>
      <p:sp>
        <p:nvSpPr>
          <p:cNvPr id="19" name="TextBox 18"/>
          <p:cNvSpPr txBox="1"/>
          <p:nvPr/>
        </p:nvSpPr>
        <p:spPr>
          <a:xfrm>
            <a:off x="1143000" y="5138928"/>
            <a:ext cx="10332720" cy="914400"/>
          </a:xfrm>
          <a:prstGeom prst="rect">
            <a:avLst/>
          </a:prstGeom>
          <a:noFill/>
        </p:spPr>
        <p:txBody>
          <a:bodyPr wrap="square">
            <a:spAutoFit/>
          </a:bodyPr>
          <a:lstStyle/>
          <a:p>
            <a:pPr algn="l"/>
            <a:r>
              <a:rPr sz="1400" b="0" i="0">
                <a:solidFill>
                  <a:srgbClr val="FFFFFF"/>
                </a:solidFill>
                <a:latin typeface="Segoe UI"/>
              </a:rPr>
              <a:t>Create · Reset · Increase · Decrease · SetScore (valid + boundary) · SetScore exceptions
EArgumentOutOfRangeException asserted for &lt;0 and &gt;1000  ·  All 20 passing on Win32/Win64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Phase 2 — The Multiplayer Prompt</a:t>
            </a:r>
          </a:p>
        </p:txBody>
      </p:sp>
      <p:sp>
        <p:nvSpPr>
          <p:cNvPr id="5" name="Rectangle 4"/>
          <p:cNvSpPr/>
          <p:nvPr/>
        </p:nvSpPr>
        <p:spPr>
          <a:xfrm>
            <a:off x="365760" y="1051560"/>
            <a:ext cx="54864" cy="411480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97280"/>
            <a:ext cx="10972800" cy="4114800"/>
          </a:xfrm>
          <a:prstGeom prst="rect">
            <a:avLst/>
          </a:prstGeom>
          <a:noFill/>
        </p:spPr>
        <p:txBody>
          <a:bodyPr wrap="square">
            <a:spAutoFit/>
          </a:bodyPr>
          <a:lstStyle/>
          <a:p>
            <a:pPr algn="l"/>
            <a:r>
              <a:rPr sz="1700" b="0" i="1">
                <a:solidFill>
                  <a:srgbClr val="FFFFFF"/>
                </a:solidFill>
                <a:latin typeface="Segoe UI"/>
              </a:rPr>
              <a:t>"Now we want to add a shared scoreboard. A web page that shows all connected players' scores, updated in real time. A server manages game sessions. Players join a session by scanning a QR code from the app.
The existing app should continue to work offline. Server connectivity is optional. When connected, score changes should appear on the scoreboard within about one second.
The server should be an ASP.NET Core application. Use SignalR for real-time browser updates. The Delphi app pushes scores via plain HTTP — no SignalR on the app side."</a:t>
            </a:r>
          </a:p>
        </p:txBody>
      </p:sp>
      <p:sp>
        <p:nvSpPr>
          <p:cNvPr id="7" name="TextBox 6"/>
          <p:cNvSpPr txBox="1"/>
          <p:nvPr/>
        </p:nvSpPr>
        <p:spPr>
          <a:xfrm>
            <a:off x="457200" y="5943600"/>
            <a:ext cx="10972800" cy="457200"/>
          </a:xfrm>
          <a:prstGeom prst="rect">
            <a:avLst/>
          </a:prstGeom>
          <a:noFill/>
        </p:spPr>
        <p:txBody>
          <a:bodyPr wrap="square">
            <a:spAutoFit/>
          </a:bodyPr>
          <a:lstStyle/>
          <a:p>
            <a:pPr algn="l"/>
            <a:r>
              <a:rPr sz="1300" b="0" i="1">
                <a:solidFill>
                  <a:srgbClr val="FFD080"/>
                </a:solidFill>
                <a:latin typeface="Segoe UI"/>
              </a:rPr>
              <a:t>Reconstructed from project documentation — no session transcript was preserved.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Phase 2 — Server  ·  S1–S4</a:t>
            </a:r>
          </a:p>
        </p:txBody>
      </p:sp>
      <p:sp>
        <p:nvSpPr>
          <p:cNvPr id="5" name="Rectangle 4"/>
          <p:cNvSpPr/>
          <p:nvPr/>
        </p:nvSpPr>
        <p:spPr>
          <a:xfrm>
            <a:off x="274320" y="1051560"/>
            <a:ext cx="2834640" cy="539496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0"/>
            <a:ext cx="2651760" cy="640080"/>
          </a:xfrm>
          <a:prstGeom prst="rect">
            <a:avLst/>
          </a:prstGeom>
          <a:noFill/>
        </p:spPr>
        <p:txBody>
          <a:bodyPr wrap="square">
            <a:spAutoFit/>
          </a:bodyPr>
          <a:lstStyle/>
          <a:p>
            <a:pPr algn="l"/>
            <a:r>
              <a:rPr sz="1600" b="1" i="0">
                <a:solidFill>
                  <a:srgbClr val="FFA726"/>
                </a:solidFill>
                <a:latin typeface="Segoe UI"/>
              </a:rPr>
              <a:t>S1
Scaffolding</a:t>
            </a:r>
          </a:p>
        </p:txBody>
      </p:sp>
      <p:sp>
        <p:nvSpPr>
          <p:cNvPr id="7" name="Rectangle 6"/>
          <p:cNvSpPr/>
          <p:nvPr/>
        </p:nvSpPr>
        <p:spPr>
          <a:xfrm>
            <a:off x="365760" y="1755648"/>
            <a:ext cx="11430000" cy="2286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828800"/>
            <a:ext cx="2651760" cy="4389120"/>
          </a:xfrm>
          <a:prstGeom prst="rect">
            <a:avLst/>
          </a:prstGeom>
          <a:noFill/>
        </p:spPr>
        <p:txBody>
          <a:bodyPr wrap="square">
            <a:spAutoFit/>
          </a:bodyPr>
          <a:lstStyle/>
          <a:p>
            <a:pPr>
              <a:spcBef>
                <a:spcPts val="400"/>
              </a:spcBef>
            </a:pPr>
            <a:r>
              <a:rPr sz="1300">
                <a:solidFill>
                  <a:srgbClr val="FFFFFF"/>
                </a:solidFill>
                <a:latin typeface="Segoe UI"/>
              </a:rPr>
              <a:t>•  ASP.NET Core 8 Web API</a:t>
            </a:r>
          </a:p>
          <a:p>
            <a:pPr>
              <a:spcBef>
                <a:spcPts val="400"/>
              </a:spcBef>
            </a:pPr>
            <a:r>
              <a:rPr sz="1300">
                <a:solidFill>
                  <a:srgbClr val="FFFFFF"/>
                </a:solidFill>
                <a:latin typeface="Segoe UI"/>
              </a:rPr>
              <a:t>•  QRCoder + Swashbuckle NuGet</a:t>
            </a:r>
          </a:p>
          <a:p>
            <a:pPr>
              <a:spcBef>
                <a:spcPts val="400"/>
              </a:spcBef>
            </a:pPr>
            <a:r>
              <a:rPr sz="1300">
                <a:solidFill>
                  <a:srgbClr val="FFFFFF"/>
                </a:solidFill>
                <a:latin typeface="Segoe UI"/>
              </a:rPr>
              <a:t>•  SignalR + CORS + Swagger</a:t>
            </a:r>
          </a:p>
          <a:p>
            <a:pPr>
              <a:spcBef>
                <a:spcPts val="400"/>
              </a:spcBef>
            </a:pPr>
            <a:r>
              <a:rPr sz="1300">
                <a:solidFill>
                  <a:srgbClr val="FFFFFF"/>
                </a:solidFill>
                <a:latin typeface="Segoe UI"/>
              </a:rPr>
              <a:t>•  appsettings: port 5000, StaleSeconds=30</a:t>
            </a:r>
          </a:p>
          <a:p>
            <a:pPr>
              <a:spcBef>
                <a:spcPts val="400"/>
              </a:spcBef>
            </a:pPr>
            <a:r>
              <a:rPr sz="1300">
                <a:solidFill>
                  <a:srgbClr val="FFFFFF"/>
                </a:solidFill>
                <a:latin typeface="Segoe UI"/>
              </a:rPr>
              <a:t>•  Startup log prints LAN IP</a:t>
            </a:r>
          </a:p>
        </p:txBody>
      </p:sp>
      <p:sp>
        <p:nvSpPr>
          <p:cNvPr id="9" name="Rectangle 8"/>
          <p:cNvSpPr/>
          <p:nvPr/>
        </p:nvSpPr>
        <p:spPr>
          <a:xfrm>
            <a:off x="3200400" y="1051560"/>
            <a:ext cx="2834640" cy="539496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097280"/>
            <a:ext cx="2651760" cy="640080"/>
          </a:xfrm>
          <a:prstGeom prst="rect">
            <a:avLst/>
          </a:prstGeom>
          <a:noFill/>
        </p:spPr>
        <p:txBody>
          <a:bodyPr wrap="square">
            <a:spAutoFit/>
          </a:bodyPr>
          <a:lstStyle/>
          <a:p>
            <a:pPr algn="l"/>
            <a:r>
              <a:rPr sz="1600" b="1" i="0">
                <a:solidFill>
                  <a:srgbClr val="FFA726"/>
                </a:solidFill>
                <a:latin typeface="Segoe UI"/>
              </a:rPr>
              <a:t>S2
Models + Store</a:t>
            </a:r>
          </a:p>
        </p:txBody>
      </p:sp>
      <p:sp>
        <p:nvSpPr>
          <p:cNvPr id="11" name="Rectangle 10"/>
          <p:cNvSpPr/>
          <p:nvPr/>
        </p:nvSpPr>
        <p:spPr>
          <a:xfrm>
            <a:off x="365760" y="1755648"/>
            <a:ext cx="11430000" cy="2286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828800"/>
            <a:ext cx="2651760" cy="4389120"/>
          </a:xfrm>
          <a:prstGeom prst="rect">
            <a:avLst/>
          </a:prstGeom>
          <a:noFill/>
        </p:spPr>
        <p:txBody>
          <a:bodyPr wrap="square">
            <a:spAutoFit/>
          </a:bodyPr>
          <a:lstStyle/>
          <a:p>
            <a:pPr>
              <a:spcBef>
                <a:spcPts val="400"/>
              </a:spcBef>
            </a:pPr>
            <a:r>
              <a:rPr sz="1300">
                <a:solidFill>
                  <a:srgbClr val="FFFFFF"/>
                </a:solidFill>
                <a:latin typeface="Segoe UI"/>
              </a:rPr>
              <a:t>•  SessionState: Lobby → Active → Ended</a:t>
            </a:r>
          </a:p>
          <a:p>
            <a:pPr>
              <a:spcBef>
                <a:spcPts val="400"/>
              </a:spcBef>
            </a:pPr>
            <a:r>
              <a:rPr sz="1300">
                <a:solidFill>
                  <a:srgbClr val="FFFFFF"/>
                </a:solidFill>
                <a:latin typeface="Segoe UI"/>
              </a:rPr>
              <a:t>•  Session, Player models</a:t>
            </a:r>
          </a:p>
          <a:p>
            <a:pPr>
              <a:spcBef>
                <a:spcPts val="400"/>
              </a:spcBef>
            </a:pPr>
            <a:r>
              <a:rPr sz="1300">
                <a:solidFill>
                  <a:srgbClr val="FFFFFF"/>
                </a:solidFill>
                <a:latin typeface="Segoe UI"/>
              </a:rPr>
              <a:t>•  SessionStore singleton (ConcurrentDictionary)</a:t>
            </a:r>
          </a:p>
          <a:p>
            <a:pPr>
              <a:spcBef>
                <a:spcPts val="400"/>
              </a:spcBef>
            </a:pPr>
            <a:r>
              <a:rPr sz="1300">
                <a:solidFill>
                  <a:srgbClr val="FFFFFF"/>
                </a:solidFill>
                <a:latin typeface="Segoe UI"/>
              </a:rPr>
              <a:t>•  6-char codes, unambiguous charset</a:t>
            </a:r>
          </a:p>
          <a:p>
            <a:pPr>
              <a:spcBef>
                <a:spcPts val="400"/>
              </a:spcBef>
            </a:pPr>
            <a:r>
              <a:rPr sz="1300">
                <a:solidFill>
                  <a:srgbClr val="FFFFFF"/>
                </a:solidFill>
                <a:latin typeface="Segoe UI"/>
              </a:rPr>
              <a:t>•  Thread-safe CRUD operations</a:t>
            </a:r>
          </a:p>
        </p:txBody>
      </p:sp>
      <p:sp>
        <p:nvSpPr>
          <p:cNvPr id="13" name="Rectangle 12"/>
          <p:cNvSpPr/>
          <p:nvPr/>
        </p:nvSpPr>
        <p:spPr>
          <a:xfrm>
            <a:off x="6126480" y="1051560"/>
            <a:ext cx="2834640" cy="539496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097280"/>
            <a:ext cx="2651760" cy="640080"/>
          </a:xfrm>
          <a:prstGeom prst="rect">
            <a:avLst/>
          </a:prstGeom>
          <a:noFill/>
        </p:spPr>
        <p:txBody>
          <a:bodyPr wrap="square">
            <a:spAutoFit/>
          </a:bodyPr>
          <a:lstStyle/>
          <a:p>
            <a:pPr algn="l"/>
            <a:r>
              <a:rPr sz="1600" b="1" i="0">
                <a:solidFill>
                  <a:srgbClr val="FFA726"/>
                </a:solidFill>
                <a:latin typeface="Segoe UI"/>
              </a:rPr>
              <a:t>S3
REST API</a:t>
            </a:r>
          </a:p>
        </p:txBody>
      </p:sp>
      <p:sp>
        <p:nvSpPr>
          <p:cNvPr id="15" name="Rectangle 14"/>
          <p:cNvSpPr/>
          <p:nvPr/>
        </p:nvSpPr>
        <p:spPr>
          <a:xfrm>
            <a:off x="365760" y="1755648"/>
            <a:ext cx="11430000" cy="2286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828800"/>
            <a:ext cx="2651760" cy="4389120"/>
          </a:xfrm>
          <a:prstGeom prst="rect">
            <a:avLst/>
          </a:prstGeom>
          <a:noFill/>
        </p:spPr>
        <p:txBody>
          <a:bodyPr wrap="square">
            <a:spAutoFit/>
          </a:bodyPr>
          <a:lstStyle/>
          <a:p>
            <a:pPr>
              <a:spcBef>
                <a:spcPts val="400"/>
              </a:spcBef>
            </a:pPr>
            <a:r>
              <a:rPr sz="1300">
                <a:solidFill>
                  <a:srgbClr val="FFFFFF"/>
                </a:solidFill>
                <a:latin typeface="Segoe UI"/>
              </a:rPr>
              <a:t>•  POST /api/sessions — create</a:t>
            </a:r>
          </a:p>
          <a:p>
            <a:pPr>
              <a:spcBef>
                <a:spcPts val="400"/>
              </a:spcBef>
            </a:pPr>
            <a:r>
              <a:rPr sz="1300">
                <a:solidFill>
                  <a:srgbClr val="FFFFFF"/>
                </a:solidFill>
                <a:latin typeface="Segoe UI"/>
              </a:rPr>
              <a:t>•  POST /players — register</a:t>
            </a:r>
          </a:p>
          <a:p>
            <a:pPr>
              <a:spcBef>
                <a:spcPts val="400"/>
              </a:spcBef>
            </a:pPr>
            <a:r>
              <a:rPr sz="1300">
                <a:solidFill>
                  <a:srgbClr val="FFFFFF"/>
                </a:solidFill>
                <a:latin typeface="Segoe UI"/>
              </a:rPr>
              <a:t>•  PUT /score — push score</a:t>
            </a:r>
          </a:p>
          <a:p>
            <a:pPr>
              <a:spcBef>
                <a:spcPts val="400"/>
              </a:spcBef>
            </a:pPr>
            <a:r>
              <a:rPr sz="1300">
                <a:solidFill>
                  <a:srgbClr val="FFFFFF"/>
                </a:solidFill>
                <a:latin typeface="Segoe UI"/>
              </a:rPr>
              <a:t>•  POST /heartbeat — keep-alive</a:t>
            </a:r>
          </a:p>
          <a:p>
            <a:pPr>
              <a:spcBef>
                <a:spcPts val="400"/>
              </a:spcBef>
            </a:pPr>
            <a:r>
              <a:rPr sz="1300">
                <a:solidFill>
                  <a:srgbClr val="FFFFFF"/>
                </a:solidFill>
                <a:latin typeface="Segoe UI"/>
              </a:rPr>
              <a:t>•  GET /qr + /appqr — QR PNGs</a:t>
            </a:r>
          </a:p>
        </p:txBody>
      </p:sp>
      <p:sp>
        <p:nvSpPr>
          <p:cNvPr id="17" name="Rectangle 16"/>
          <p:cNvSpPr/>
          <p:nvPr/>
        </p:nvSpPr>
        <p:spPr>
          <a:xfrm>
            <a:off x="9052560" y="1051560"/>
            <a:ext cx="2834640" cy="539496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1097280"/>
            <a:ext cx="2651760" cy="640080"/>
          </a:xfrm>
          <a:prstGeom prst="rect">
            <a:avLst/>
          </a:prstGeom>
          <a:noFill/>
        </p:spPr>
        <p:txBody>
          <a:bodyPr wrap="square">
            <a:spAutoFit/>
          </a:bodyPr>
          <a:lstStyle/>
          <a:p>
            <a:pPr algn="l"/>
            <a:r>
              <a:rPr sz="1600" b="1" i="0">
                <a:solidFill>
                  <a:srgbClr val="FFA726"/>
                </a:solidFill>
                <a:latin typeface="Segoe UI"/>
              </a:rPr>
              <a:t>S4
SignalR Hub</a:t>
            </a:r>
          </a:p>
        </p:txBody>
      </p:sp>
      <p:sp>
        <p:nvSpPr>
          <p:cNvPr id="19" name="Rectangle 18"/>
          <p:cNvSpPr/>
          <p:nvPr/>
        </p:nvSpPr>
        <p:spPr>
          <a:xfrm>
            <a:off x="365760" y="1755648"/>
            <a:ext cx="11430000" cy="2286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1828800"/>
            <a:ext cx="2651760" cy="4389120"/>
          </a:xfrm>
          <a:prstGeom prst="rect">
            <a:avLst/>
          </a:prstGeom>
          <a:noFill/>
        </p:spPr>
        <p:txBody>
          <a:bodyPr wrap="square">
            <a:spAutoFit/>
          </a:bodyPr>
          <a:lstStyle/>
          <a:p>
            <a:pPr>
              <a:spcBef>
                <a:spcPts val="400"/>
              </a:spcBef>
            </a:pPr>
            <a:r>
              <a:rPr sz="1300">
                <a:solidFill>
                  <a:srgbClr val="FFFFFF"/>
                </a:solidFill>
                <a:latin typeface="Segoe UI"/>
              </a:rPr>
              <a:t>•  GameHub.JoinSessionGroup(id)</a:t>
            </a:r>
          </a:p>
          <a:p>
            <a:pPr>
              <a:spcBef>
                <a:spcPts val="400"/>
              </a:spcBef>
            </a:pPr>
            <a:r>
              <a:rPr sz="1300">
                <a:solidFill>
                  <a:srgbClr val="FFFFFF"/>
                </a:solidFill>
                <a:latin typeface="Segoe UI"/>
              </a:rPr>
              <a:t>•  PlayerJoined / ScoreUpdated</a:t>
            </a:r>
          </a:p>
          <a:p>
            <a:pPr>
              <a:spcBef>
                <a:spcPts val="400"/>
              </a:spcBef>
            </a:pPr>
            <a:r>
              <a:rPr sz="1300">
                <a:solidFill>
                  <a:srgbClr val="FFFFFF"/>
                </a:solidFill>
                <a:latin typeface="Segoe UI"/>
              </a:rPr>
              <a:t>•  PlayerWentStale / PlayerReturned</a:t>
            </a:r>
          </a:p>
          <a:p>
            <a:pPr>
              <a:spcBef>
                <a:spcPts val="400"/>
              </a:spcBef>
            </a:pPr>
            <a:r>
              <a:rPr sz="1300">
                <a:solidFill>
                  <a:srgbClr val="FFFFFF"/>
                </a:solidFill>
                <a:latin typeface="Segoe UI"/>
              </a:rPr>
              <a:t>•  GameStarted / GameEnded</a:t>
            </a:r>
          </a:p>
          <a:p>
            <a:pPr>
              <a:spcBef>
                <a:spcPts val="400"/>
              </a:spcBef>
            </a:pPr>
            <a:r>
              <a:rPr sz="1300">
                <a:solidFill>
                  <a:srgbClr val="FFFFFF"/>
                </a:solidFill>
                <a:latin typeface="Segoe UI"/>
              </a:rPr>
              <a:t>•  IHubContext wired to controllers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Phase 2 — Server  ·  S5–S7</a:t>
            </a:r>
          </a:p>
        </p:txBody>
      </p:sp>
      <p:sp>
        <p:nvSpPr>
          <p:cNvPr id="5" name="Rectangle 4"/>
          <p:cNvSpPr/>
          <p:nvPr/>
        </p:nvSpPr>
        <p:spPr>
          <a:xfrm>
            <a:off x="365760" y="1097280"/>
            <a:ext cx="11338560" cy="141732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70432"/>
            <a:ext cx="10972800" cy="411480"/>
          </a:xfrm>
          <a:prstGeom prst="rect">
            <a:avLst/>
          </a:prstGeom>
          <a:noFill/>
        </p:spPr>
        <p:txBody>
          <a:bodyPr wrap="square">
            <a:spAutoFit/>
          </a:bodyPr>
          <a:lstStyle/>
          <a:p>
            <a:pPr algn="l"/>
            <a:r>
              <a:rPr sz="1700" b="1" i="0">
                <a:solidFill>
                  <a:srgbClr val="FFA726"/>
                </a:solidFill>
                <a:latin typeface="Segoe UI"/>
              </a:rPr>
              <a:t>S5  ·  Postman Collection</a:t>
            </a:r>
          </a:p>
        </p:txBody>
      </p:sp>
      <p:sp>
        <p:nvSpPr>
          <p:cNvPr id="7" name="TextBox 6"/>
          <p:cNvSpPr txBox="1"/>
          <p:nvPr/>
        </p:nvSpPr>
        <p:spPr>
          <a:xfrm>
            <a:off x="548640" y="1572768"/>
            <a:ext cx="10972800" cy="777240"/>
          </a:xfrm>
          <a:prstGeom prst="rect">
            <a:avLst/>
          </a:prstGeom>
          <a:noFill/>
        </p:spPr>
        <p:txBody>
          <a:bodyPr wrap="square">
            <a:spAutoFit/>
          </a:bodyPr>
          <a:lstStyle/>
          <a:p>
            <a:pPr algn="l"/>
            <a:r>
              <a:rPr sz="1400" b="0" i="0">
                <a:solidFill>
                  <a:srgbClr val="FFFFFF"/>
                </a:solidFill>
                <a:latin typeface="Segoe UI"/>
              </a:rPr>
              <a:t>3 folders (Sessions, Players, QR Code)  ·  10 requests  ·  Test scripts auto-capture sessionId + playerId
Status-code assertions on every request  ·  Enables full manual integration test without a browser</a:t>
            </a:r>
          </a:p>
        </p:txBody>
      </p:sp>
      <p:sp>
        <p:nvSpPr>
          <p:cNvPr id="8" name="Rectangle 7"/>
          <p:cNvSpPr/>
          <p:nvPr/>
        </p:nvSpPr>
        <p:spPr>
          <a:xfrm>
            <a:off x="365760" y="2651760"/>
            <a:ext cx="11338560" cy="173736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724912"/>
            <a:ext cx="10972800" cy="411480"/>
          </a:xfrm>
          <a:prstGeom prst="rect">
            <a:avLst/>
          </a:prstGeom>
          <a:noFill/>
        </p:spPr>
        <p:txBody>
          <a:bodyPr wrap="square">
            <a:spAutoFit/>
          </a:bodyPr>
          <a:lstStyle/>
          <a:p>
            <a:pPr algn="l"/>
            <a:r>
              <a:rPr sz="1700" b="1" i="0">
                <a:solidFill>
                  <a:srgbClr val="FFA726"/>
                </a:solidFill>
                <a:latin typeface="Segoe UI"/>
              </a:rPr>
              <a:t>S6  ·  HeartbeatMonitor</a:t>
            </a:r>
          </a:p>
        </p:txBody>
      </p:sp>
      <p:sp>
        <p:nvSpPr>
          <p:cNvPr id="10" name="TextBox 9"/>
          <p:cNvSpPr txBox="1"/>
          <p:nvPr/>
        </p:nvSpPr>
        <p:spPr>
          <a:xfrm>
            <a:off x="548640" y="3127248"/>
            <a:ext cx="10972800" cy="1097280"/>
          </a:xfrm>
          <a:prstGeom prst="rect">
            <a:avLst/>
          </a:prstGeom>
          <a:noFill/>
        </p:spPr>
        <p:txBody>
          <a:bodyPr wrap="square">
            <a:spAutoFit/>
          </a:bodyPr>
          <a:lstStyle/>
          <a:p>
            <a:pPr algn="l"/>
            <a:r>
              <a:rPr sz="1400" b="0" i="0">
                <a:solidFill>
                  <a:srgbClr val="FFFFFF"/>
                </a:solidFill>
                <a:latin typeface="Segoe UI"/>
              </a:rPr>
              <a:t>BackgroundService running every 5 s
Marks players stale after 30 s without heartbeat → broadcasts PlayerWentStale
Ends sessions idle for 2+ hours → broadcasts GameEnded
Recovery (PlayerReturned) handled in PlayersController on next push</a:t>
            </a:r>
          </a:p>
        </p:txBody>
      </p:sp>
      <p:sp>
        <p:nvSpPr>
          <p:cNvPr id="11" name="Rectangle 10"/>
          <p:cNvSpPr/>
          <p:nvPr/>
        </p:nvSpPr>
        <p:spPr>
          <a:xfrm>
            <a:off x="365760" y="4526280"/>
            <a:ext cx="11338560" cy="192024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599432"/>
            <a:ext cx="10972800" cy="411480"/>
          </a:xfrm>
          <a:prstGeom prst="rect">
            <a:avLst/>
          </a:prstGeom>
          <a:noFill/>
        </p:spPr>
        <p:txBody>
          <a:bodyPr wrap="square">
            <a:spAutoFit/>
          </a:bodyPr>
          <a:lstStyle/>
          <a:p>
            <a:pPr algn="l"/>
            <a:r>
              <a:rPr sz="1700" b="1" i="0">
                <a:solidFill>
                  <a:srgbClr val="FFA726"/>
                </a:solidFill>
                <a:latin typeface="Segoe UI"/>
              </a:rPr>
              <a:t>S7  ·  Web UI</a:t>
            </a:r>
          </a:p>
        </p:txBody>
      </p:sp>
      <p:sp>
        <p:nvSpPr>
          <p:cNvPr id="13" name="TextBox 12"/>
          <p:cNvSpPr txBox="1"/>
          <p:nvPr/>
        </p:nvSpPr>
        <p:spPr>
          <a:xfrm>
            <a:off x="548640" y="5001768"/>
            <a:ext cx="10972800" cy="1371600"/>
          </a:xfrm>
          <a:prstGeom prst="rect">
            <a:avLst/>
          </a:prstGeom>
          <a:noFill/>
        </p:spPr>
        <p:txBody>
          <a:bodyPr wrap="square">
            <a:spAutoFit/>
          </a:bodyPr>
          <a:lstStyle/>
          <a:p>
            <a:pPr>
              <a:spcBef>
                <a:spcPts val="400"/>
              </a:spcBef>
            </a:pPr>
            <a:r>
              <a:rPr sz="1400">
                <a:solidFill>
                  <a:srgbClr val="FFFFFF"/>
                </a:solidFill>
                <a:latin typeface="Segoe UI"/>
              </a:rPr>
              <a:t>•  lobby.html + lobby.js — create session, QR display, player list, Start Spel button</a:t>
            </a:r>
          </a:p>
          <a:p>
            <a:pPr>
              <a:spcBef>
                <a:spcPts val="400"/>
              </a:spcBef>
            </a:pPr>
            <a:r>
              <a:rPr sz="1400">
                <a:solidFill>
                  <a:srgbClr val="FFFFFF"/>
                </a:solidFill>
                <a:latin typeface="Segoe UI"/>
              </a:rPr>
              <a:t>•  scoreboard.html + scoreboard.js — live player tiles, Beëindig spel, Nieuw Spel flow</a:t>
            </a:r>
          </a:p>
          <a:p>
            <a:pPr>
              <a:spcBef>
                <a:spcPts val="400"/>
              </a:spcBef>
            </a:pPr>
            <a:r>
              <a:rPr sz="1400">
                <a:solidFill>
                  <a:srgbClr val="FFFFFF"/>
                </a:solidFill>
                <a:latin typeface="Segoe UI"/>
              </a:rPr>
              <a:t>•  style.css — dark red #B71C1C background, orange #FFA726 accents, matching app palette</a:t>
            </a:r>
          </a:p>
          <a:p>
            <a:pPr>
              <a:spcBef>
                <a:spcPts val="400"/>
              </a:spcBef>
            </a:pPr>
            <a:r>
              <a:rPr sz="1400">
                <a:solidFill>
                  <a:srgbClr val="FFFFFF"/>
                </a:solidFill>
                <a:latin typeface="Segoe UI"/>
              </a:rPr>
              <a:t>•  App download QR on landing page (Google Play internal test link)</a:t>
            </a:r>
          </a:p>
          <a:p>
            <a:pPr>
              <a:spcBef>
                <a:spcPts val="400"/>
              </a:spcBef>
            </a:pPr>
            <a:r>
              <a:rPr sz="1400">
                <a:solidFill>
                  <a:srgbClr val="FFFFFF"/>
                </a:solidFill>
                <a:latin typeface="Segoe UI"/>
              </a:rPr>
              <a:t>•  signalr.min.js — local copy, no CDN dependency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Phase 2 — Delphi Client  ·  D1–D3</a:t>
            </a:r>
          </a:p>
        </p:txBody>
      </p:sp>
      <p:sp>
        <p:nvSpPr>
          <p:cNvPr id="5" name="Rectangle 4"/>
          <p:cNvSpPr/>
          <p:nvPr/>
        </p:nvSpPr>
        <p:spPr>
          <a:xfrm>
            <a:off x="365760" y="1097280"/>
            <a:ext cx="11338560" cy="182880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70432"/>
            <a:ext cx="10972800" cy="411480"/>
          </a:xfrm>
          <a:prstGeom prst="rect">
            <a:avLst/>
          </a:prstGeom>
          <a:noFill/>
        </p:spPr>
        <p:txBody>
          <a:bodyPr wrap="square">
            <a:spAutoFit/>
          </a:bodyPr>
          <a:lstStyle/>
          <a:p>
            <a:pPr algn="l"/>
            <a:r>
              <a:rPr sz="1700" b="1" i="0">
                <a:solidFill>
                  <a:srgbClr val="FFA726"/>
                </a:solidFill>
                <a:latin typeface="Segoe UI"/>
              </a:rPr>
              <a:t>D1  ·  ServerClient.pas</a:t>
            </a:r>
          </a:p>
        </p:txBody>
      </p:sp>
      <p:sp>
        <p:nvSpPr>
          <p:cNvPr id="7" name="TextBox 6"/>
          <p:cNvSpPr txBox="1"/>
          <p:nvPr/>
        </p:nvSpPr>
        <p:spPr>
          <a:xfrm>
            <a:off x="548640" y="1572768"/>
            <a:ext cx="10972800" cy="1234440"/>
          </a:xfrm>
          <a:prstGeom prst="rect">
            <a:avLst/>
          </a:prstGeom>
          <a:noFill/>
        </p:spPr>
        <p:txBody>
          <a:bodyPr wrap="square">
            <a:spAutoFit/>
          </a:bodyPr>
          <a:lstStyle/>
          <a:p>
            <a:pPr algn="l"/>
            <a:r>
              <a:rPr sz="1400" b="0" i="0">
                <a:solidFill>
                  <a:srgbClr val="FFFFFF"/>
                </a:solidFill>
                <a:latin typeface="Segoe UI"/>
              </a:rPr>
              <a:t>IServerClient interface: JoinSession, LeaveSession, PushScore, IsConnected
TServerClient: THTTPClient per request · heartbeat TTimer (15 s) · offline after 3 consecutive failures
TServerAwareScoreManager decorator: wraps IScoreManager, pushes score after every mutation
Zero changes to existing MainFrm event handlers</a:t>
            </a:r>
          </a:p>
        </p:txBody>
      </p:sp>
      <p:sp>
        <p:nvSpPr>
          <p:cNvPr id="8" name="Rectangle 7"/>
          <p:cNvSpPr/>
          <p:nvPr/>
        </p:nvSpPr>
        <p:spPr>
          <a:xfrm>
            <a:off x="365760" y="3063240"/>
            <a:ext cx="11338560" cy="137160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36392"/>
            <a:ext cx="10972800" cy="411480"/>
          </a:xfrm>
          <a:prstGeom prst="rect">
            <a:avLst/>
          </a:prstGeom>
          <a:noFill/>
        </p:spPr>
        <p:txBody>
          <a:bodyPr wrap="square">
            <a:spAutoFit/>
          </a:bodyPr>
          <a:lstStyle/>
          <a:p>
            <a:pPr algn="l"/>
            <a:r>
              <a:rPr sz="1700" b="1" i="0">
                <a:solidFill>
                  <a:srgbClr val="FFA726"/>
                </a:solidFill>
                <a:latin typeface="Segoe UI"/>
              </a:rPr>
              <a:t>D2  ·  Menu Layout (MainFrm.fmx)</a:t>
            </a:r>
          </a:p>
        </p:txBody>
      </p:sp>
      <p:sp>
        <p:nvSpPr>
          <p:cNvPr id="10" name="TextBox 9"/>
          <p:cNvSpPr txBox="1"/>
          <p:nvPr/>
        </p:nvSpPr>
        <p:spPr>
          <a:xfrm>
            <a:off x="548640" y="3538728"/>
            <a:ext cx="10972800" cy="777240"/>
          </a:xfrm>
          <a:prstGeom prst="rect">
            <a:avLst/>
          </a:prstGeom>
          <a:noFill/>
        </p:spPr>
        <p:txBody>
          <a:bodyPr wrap="square">
            <a:spAutoFit/>
          </a:bodyPr>
          <a:lstStyle/>
          <a:p>
            <a:pPr algn="l"/>
            <a:r>
              <a:rPr sz="1400" b="0" i="0">
                <a:solidFill>
                  <a:srgbClr val="FFFFFF"/>
                </a:solidFill>
                <a:latin typeface="Segoe UI"/>
              </a:rPr>
              <a:t>pnlMenu height 150 → 250  ·  Added mnuJoinGame "Aanmelden bij spel"
Added mnuLeaveGame "Afmelden" (initially hidden)  ·  lblStatus top-right: "Online" / "Offline" / empty</a:t>
            </a:r>
          </a:p>
        </p:txBody>
      </p:sp>
      <p:sp>
        <p:nvSpPr>
          <p:cNvPr id="11" name="Rectangle 10"/>
          <p:cNvSpPr/>
          <p:nvPr/>
        </p:nvSpPr>
        <p:spPr>
          <a:xfrm>
            <a:off x="365760" y="4572000"/>
            <a:ext cx="11338560" cy="182880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645152"/>
            <a:ext cx="10972800" cy="411480"/>
          </a:xfrm>
          <a:prstGeom prst="rect">
            <a:avLst/>
          </a:prstGeom>
          <a:noFill/>
        </p:spPr>
        <p:txBody>
          <a:bodyPr wrap="square">
            <a:spAutoFit/>
          </a:bodyPr>
          <a:lstStyle/>
          <a:p>
            <a:pPr algn="l"/>
            <a:r>
              <a:rPr sz="1700" b="1" i="0">
                <a:solidFill>
                  <a:srgbClr val="FFA726"/>
                </a:solidFill>
                <a:latin typeface="Segoe UI"/>
              </a:rPr>
              <a:t>D3  ·  Join / Leave Logic (MainFrm.pas)</a:t>
            </a:r>
          </a:p>
        </p:txBody>
      </p:sp>
      <p:sp>
        <p:nvSpPr>
          <p:cNvPr id="13" name="TextBox 12"/>
          <p:cNvSpPr txBox="1"/>
          <p:nvPr/>
        </p:nvSpPr>
        <p:spPr>
          <a:xfrm>
            <a:off x="548640" y="5047488"/>
            <a:ext cx="10972800" cy="1234440"/>
          </a:xfrm>
          <a:prstGeom prst="rect">
            <a:avLst/>
          </a:prstGeom>
          <a:noFill/>
        </p:spPr>
        <p:txBody>
          <a:bodyPr wrap="square">
            <a:spAutoFit/>
          </a:bodyPr>
          <a:lstStyle/>
          <a:p>
            <a:pPr algn="l"/>
            <a:r>
              <a:rPr sz="1400" b="0" i="0">
                <a:solidFill>
                  <a:srgbClr val="FFFFFF"/>
                </a:solidFill>
                <a:latin typeface="Segoe UI"/>
              </a:rPr>
              <a:t>FServerClient: IServerClient initialised in FormCreate
DoJoin: TThread.CreateAnonymousThread → JoinSession → swaps FScoreManager to TServerAwareScoreManager
mnuLeaveGameClick: LeaveSession → swaps back to plain TScoreManager
tmrStatusPoll (5 s): updates lblStatus from IsConnected on main thread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Phase 2 — Delphi Client  ·  D4–D5</a:t>
            </a:r>
          </a:p>
        </p:txBody>
      </p:sp>
      <p:sp>
        <p:nvSpPr>
          <p:cNvPr id="5" name="Rectangle 4"/>
          <p:cNvSpPr/>
          <p:nvPr/>
        </p:nvSpPr>
        <p:spPr>
          <a:xfrm>
            <a:off x="365760" y="1097280"/>
            <a:ext cx="11338560" cy="246888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70432"/>
            <a:ext cx="10972800" cy="411480"/>
          </a:xfrm>
          <a:prstGeom prst="rect">
            <a:avLst/>
          </a:prstGeom>
          <a:noFill/>
        </p:spPr>
        <p:txBody>
          <a:bodyPr wrap="square">
            <a:spAutoFit/>
          </a:bodyPr>
          <a:lstStyle/>
          <a:p>
            <a:pPr algn="l"/>
            <a:r>
              <a:rPr sz="1700" b="1" i="0">
                <a:solidFill>
                  <a:srgbClr val="FFA726"/>
                </a:solidFill>
                <a:latin typeface="Segoe UI"/>
              </a:rPr>
              <a:t>D4  ·  ZXing QR Scanner</a:t>
            </a:r>
          </a:p>
        </p:txBody>
      </p:sp>
      <p:sp>
        <p:nvSpPr>
          <p:cNvPr id="7" name="TextBox 6"/>
          <p:cNvSpPr txBox="1"/>
          <p:nvPr/>
        </p:nvSpPr>
        <p:spPr>
          <a:xfrm>
            <a:off x="548640" y="1572768"/>
            <a:ext cx="10972800" cy="1828800"/>
          </a:xfrm>
          <a:prstGeom prst="rect">
            <a:avLst/>
          </a:prstGeom>
          <a:noFill/>
        </p:spPr>
        <p:txBody>
          <a:bodyPr wrap="square">
            <a:spAutoFit/>
          </a:bodyPr>
          <a:lstStyle/>
          <a:p>
            <a:pPr>
              <a:spcBef>
                <a:spcPts val="400"/>
              </a:spcBef>
            </a:pPr>
            <a:r>
              <a:rPr sz="1300">
                <a:solidFill>
                  <a:srgbClr val="FFFFFF"/>
                </a:solidFill>
                <a:latin typeface="Segoe UI"/>
              </a:rPr>
              <a:t>•  TScannerForm — full-screen camera preview, scans every 15th frame via TScanManager</a:t>
            </a:r>
          </a:p>
          <a:p>
            <a:pPr>
              <a:spcBef>
                <a:spcPts val="400"/>
              </a:spcBef>
            </a:pPr>
            <a:r>
              <a:rPr sz="1300">
                <a:solidFill>
                  <a:srgbClr val="FFFFFF"/>
                </a:solidFill>
                <a:latin typeface="Segoe UI"/>
              </a:rPr>
              <a:t>•  TOnResultProc named type (not TProc&lt;string&gt;) — avoids compiler overload resolution issues</a:t>
            </a:r>
          </a:p>
          <a:p>
            <a:pPr>
              <a:spcBef>
                <a:spcPts val="400"/>
              </a:spcBef>
            </a:pPr>
            <a:r>
              <a:rPr sz="1300">
                <a:solidFill>
                  <a:srgbClr val="FFFFFF"/>
                </a:solidFill>
                <a:latin typeface="Segoe UI"/>
              </a:rPr>
              <a:t>•  {$R *.fmx} requires ScannerFrm.fmx stub — omitting it raises EResNotFound at runtime</a:t>
            </a:r>
          </a:p>
          <a:p>
            <a:pPr>
              <a:spcBef>
                <a:spcPts val="400"/>
              </a:spcBef>
            </a:pPr>
            <a:r>
              <a:rPr sz="1300">
                <a:solidFill>
                  <a:srgbClr val="FFFFFF"/>
                </a:solidFill>
                <a:latin typeface="Segoe UI"/>
              </a:rPr>
              <a:t>•  Camera NOT deactivated in OnClose — deactivating inside DoFormClose hangs ZXing</a:t>
            </a:r>
          </a:p>
          <a:p>
            <a:pPr>
              <a:spcBef>
                <a:spcPts val="400"/>
              </a:spcBef>
            </a:pPr>
            <a:r>
              <a:rPr sz="1300">
                <a:solidFill>
                  <a:srgbClr val="FFFFFF"/>
                </a:solidFill>
                <a:latin typeface="Segoe UI"/>
              </a:rPr>
              <a:t>•  res/network_security_config.xml — Android 9+ blocks HTTP without it</a:t>
            </a:r>
          </a:p>
          <a:p>
            <a:pPr>
              <a:spcBef>
                <a:spcPts val="400"/>
              </a:spcBef>
            </a:pPr>
            <a:r>
              <a:rPr sz="1300">
                <a:solidFill>
                  <a:srgbClr val="FFFFFF"/>
                </a:solidFill>
                <a:latin typeface="Segoe UI"/>
              </a:rPr>
              <a:t>•  INTERNET + ACCESS_NETWORK_STATE via Delphi project options (not hardcoded in manifest)</a:t>
            </a:r>
          </a:p>
        </p:txBody>
      </p:sp>
      <p:sp>
        <p:nvSpPr>
          <p:cNvPr id="8" name="Rectangle 7"/>
          <p:cNvSpPr/>
          <p:nvPr/>
        </p:nvSpPr>
        <p:spPr>
          <a:xfrm>
            <a:off x="365760" y="3703320"/>
            <a:ext cx="11338560" cy="265176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776472"/>
            <a:ext cx="10972800" cy="411480"/>
          </a:xfrm>
          <a:prstGeom prst="rect">
            <a:avLst/>
          </a:prstGeom>
          <a:noFill/>
        </p:spPr>
        <p:txBody>
          <a:bodyPr wrap="square">
            <a:spAutoFit/>
          </a:bodyPr>
          <a:lstStyle/>
          <a:p>
            <a:pPr algn="l"/>
            <a:r>
              <a:rPr sz="1700" b="1" i="0">
                <a:solidFill>
                  <a:srgbClr val="FFA726"/>
                </a:solidFill>
                <a:latin typeface="Segoe UI"/>
              </a:rPr>
              <a:t>D5  ·  End-to-End Test</a:t>
            </a:r>
          </a:p>
        </p:txBody>
      </p:sp>
      <p:sp>
        <p:nvSpPr>
          <p:cNvPr id="10" name="TextBox 9"/>
          <p:cNvSpPr txBox="1"/>
          <p:nvPr/>
        </p:nvSpPr>
        <p:spPr>
          <a:xfrm>
            <a:off x="548640" y="4178808"/>
            <a:ext cx="10972800" cy="2011680"/>
          </a:xfrm>
          <a:prstGeom prst="rect">
            <a:avLst/>
          </a:prstGeom>
          <a:noFill/>
        </p:spPr>
        <p:txBody>
          <a:bodyPr wrap="square">
            <a:spAutoFit/>
          </a:bodyPr>
          <a:lstStyle/>
          <a:p>
            <a:pPr>
              <a:spcBef>
                <a:spcPts val="400"/>
              </a:spcBef>
            </a:pPr>
            <a:r>
              <a:rPr sz="1300">
                <a:solidFill>
                  <a:srgbClr val="FFFFFF"/>
                </a:solidFill>
                <a:latin typeface="Segoe UI"/>
              </a:rPr>
              <a:t>•  Full flow confirmed: browser creates session → player scans QR → joins → "Online" shown → scores update live</a:t>
            </a:r>
          </a:p>
          <a:p>
            <a:pPr>
              <a:spcBef>
                <a:spcPts val="400"/>
              </a:spcBef>
            </a:pPr>
            <a:r>
              <a:rPr sz="1300">
                <a:solidFill>
                  <a:srgbClr val="FFFFFF"/>
                </a:solidFill>
                <a:latin typeface="Segoe UI"/>
              </a:rPr>
              <a:t>•  Offline test: Wi-Fi off → app continues working → lblStatus shows "Offline" within ~45 s</a:t>
            </a:r>
          </a:p>
          <a:p>
            <a:pPr>
              <a:spcBef>
                <a:spcPts val="400"/>
              </a:spcBef>
            </a:pPr>
            <a:r>
              <a:rPr sz="1300">
                <a:solidFill>
                  <a:srgbClr val="FFFFFF"/>
                </a:solidFill>
                <a:latin typeface="Segoe UI"/>
              </a:rPr>
              <a:t>•  Recovery confirmed: Wi-Fi back → lblStatus returns to "Online" on next successful push</a:t>
            </a:r>
          </a:p>
          <a:p>
            <a:pPr>
              <a:spcBef>
                <a:spcPts val="400"/>
              </a:spcBef>
            </a:pPr>
            <a:r>
              <a:rPr sz="1300">
                <a:solidFill>
                  <a:srgbClr val="FFFFFF"/>
                </a:solidFill>
                <a:latin typeface="Segoe UI"/>
              </a:rPr>
              <a:t>•  VPN discovery: server bound to VPN interface (10.x.x.x) instead of LAN (192.168.x.x)</a:t>
            </a:r>
          </a:p>
          <a:p>
            <a:pPr>
              <a:spcBef>
                <a:spcPts val="400"/>
              </a:spcBef>
            </a:pPr>
            <a:r>
              <a:rPr sz="1300">
                <a:solidFill>
                  <a:srgbClr val="FFFFFF"/>
                </a:solidFill>
                <a:latin typeface="Segoe UI"/>
              </a:rPr>
              <a:t>•  Fix: IpAddressHelper now prefers 192.168.x.x &gt; 172.16.x.x &gt; 10.x.x.x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Architecture Overview</a:t>
            </a:r>
          </a:p>
        </p:txBody>
      </p:sp>
      <p:sp>
        <p:nvSpPr>
          <p:cNvPr id="5" name="Rectangle 4"/>
          <p:cNvSpPr/>
          <p:nvPr/>
        </p:nvSpPr>
        <p:spPr>
          <a:xfrm>
            <a:off x="457200" y="1188720"/>
            <a:ext cx="3566160" cy="146304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3383280" cy="457200"/>
          </a:xfrm>
          <a:prstGeom prst="rect">
            <a:avLst/>
          </a:prstGeom>
          <a:noFill/>
        </p:spPr>
        <p:txBody>
          <a:bodyPr wrap="square">
            <a:spAutoFit/>
          </a:bodyPr>
          <a:lstStyle/>
          <a:p>
            <a:pPr algn="l"/>
            <a:r>
              <a:rPr sz="1600" b="1" i="0">
                <a:solidFill>
                  <a:srgbClr val="FFA726"/>
                </a:solidFill>
                <a:latin typeface="Segoe UI"/>
              </a:rPr>
              <a:t>Browser</a:t>
            </a:r>
          </a:p>
        </p:txBody>
      </p:sp>
      <p:sp>
        <p:nvSpPr>
          <p:cNvPr id="7" name="TextBox 6"/>
          <p:cNvSpPr txBox="1"/>
          <p:nvPr/>
        </p:nvSpPr>
        <p:spPr>
          <a:xfrm>
            <a:off x="548640" y="1664208"/>
            <a:ext cx="3383280" cy="822960"/>
          </a:xfrm>
          <a:prstGeom prst="rect">
            <a:avLst/>
          </a:prstGeom>
          <a:noFill/>
        </p:spPr>
        <p:txBody>
          <a:bodyPr wrap="square">
            <a:spAutoFit/>
          </a:bodyPr>
          <a:lstStyle/>
          <a:p>
            <a:pPr algn="l"/>
            <a:r>
              <a:rPr sz="1400" b="0" i="0">
                <a:solidFill>
                  <a:srgbClr val="FFFFFF"/>
                </a:solidFill>
                <a:latin typeface="Segoe UI"/>
              </a:rPr>
              <a:t>lobby.html
scoreboard.html</a:t>
            </a:r>
          </a:p>
        </p:txBody>
      </p:sp>
      <p:sp>
        <p:nvSpPr>
          <p:cNvPr id="8" name="TextBox 7"/>
          <p:cNvSpPr txBox="1"/>
          <p:nvPr/>
        </p:nvSpPr>
        <p:spPr>
          <a:xfrm>
            <a:off x="4114800" y="1737360"/>
            <a:ext cx="3840480" cy="457200"/>
          </a:xfrm>
          <a:prstGeom prst="rect">
            <a:avLst/>
          </a:prstGeom>
          <a:noFill/>
        </p:spPr>
        <p:txBody>
          <a:bodyPr wrap="square">
            <a:spAutoFit/>
          </a:bodyPr>
          <a:lstStyle/>
          <a:p>
            <a:pPr algn="l"/>
            <a:r>
              <a:rPr sz="1300" b="0" i="1">
                <a:solidFill>
                  <a:srgbClr val="FFA726"/>
                </a:solidFill>
                <a:latin typeface="Segoe UI"/>
              </a:rPr>
              <a:t>◄── SignalR ──────────────────────</a:t>
            </a:r>
          </a:p>
        </p:txBody>
      </p:sp>
      <p:sp>
        <p:nvSpPr>
          <p:cNvPr id="9" name="Rectangle 8"/>
          <p:cNvSpPr/>
          <p:nvPr/>
        </p:nvSpPr>
        <p:spPr>
          <a:xfrm>
            <a:off x="8046720" y="1188720"/>
            <a:ext cx="3749039" cy="438912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1234440"/>
            <a:ext cx="3566160" cy="457200"/>
          </a:xfrm>
          <a:prstGeom prst="rect">
            <a:avLst/>
          </a:prstGeom>
          <a:noFill/>
        </p:spPr>
        <p:txBody>
          <a:bodyPr wrap="square">
            <a:spAutoFit/>
          </a:bodyPr>
          <a:lstStyle/>
          <a:p>
            <a:pPr algn="l"/>
            <a:r>
              <a:rPr sz="1600" b="1" i="0">
                <a:solidFill>
                  <a:srgbClr val="FFA726"/>
                </a:solidFill>
                <a:latin typeface="Segoe UI"/>
              </a:rPr>
              <a:t>ASP.NET Core 8 Server</a:t>
            </a:r>
          </a:p>
        </p:txBody>
      </p:sp>
      <p:sp>
        <p:nvSpPr>
          <p:cNvPr id="11" name="TextBox 10"/>
          <p:cNvSpPr txBox="1"/>
          <p:nvPr/>
        </p:nvSpPr>
        <p:spPr>
          <a:xfrm>
            <a:off x="8183879" y="1691640"/>
            <a:ext cx="3566160" cy="3657600"/>
          </a:xfrm>
          <a:prstGeom prst="rect">
            <a:avLst/>
          </a:prstGeom>
          <a:noFill/>
        </p:spPr>
        <p:txBody>
          <a:bodyPr wrap="square">
            <a:spAutoFit/>
          </a:bodyPr>
          <a:lstStyle/>
          <a:p>
            <a:pPr>
              <a:spcBef>
                <a:spcPts val="400"/>
              </a:spcBef>
            </a:pPr>
            <a:r>
              <a:rPr sz="1300">
                <a:solidFill>
                  <a:srgbClr val="FFFFFF"/>
                </a:solidFill>
                <a:latin typeface="Segoe UI"/>
              </a:rPr>
              <a:t>•  SessionStore</a:t>
            </a:r>
          </a:p>
          <a:p>
            <a:pPr>
              <a:spcBef>
                <a:spcPts val="400"/>
              </a:spcBef>
            </a:pPr>
            <a:r>
              <a:rPr sz="1300">
                <a:solidFill>
                  <a:srgbClr val="FFFFFF"/>
                </a:solidFill>
                <a:latin typeface="Segoe UI"/>
              </a:rPr>
              <a:t>•  (ConcurrentDictionary)</a:t>
            </a:r>
          </a:p>
          <a:p>
            <a:pPr>
              <a:spcBef>
                <a:spcPts val="400"/>
              </a:spcBef>
            </a:pPr>
            <a:r>
              <a:rPr sz="1300">
                <a:solidFill>
                  <a:srgbClr val="FFFFFF"/>
                </a:solidFill>
                <a:latin typeface="Segoe UI"/>
              </a:rPr>
              <a:t>•  </a:t>
            </a:r>
          </a:p>
          <a:p>
            <a:pPr>
              <a:spcBef>
                <a:spcPts val="400"/>
              </a:spcBef>
            </a:pPr>
            <a:r>
              <a:rPr sz="1300">
                <a:solidFill>
                  <a:srgbClr val="FFFFFF"/>
                </a:solidFill>
                <a:latin typeface="Segoe UI"/>
              </a:rPr>
              <a:t>•  HeartbeatMonitor</a:t>
            </a:r>
          </a:p>
          <a:p>
            <a:pPr>
              <a:spcBef>
                <a:spcPts val="400"/>
              </a:spcBef>
            </a:pPr>
            <a:r>
              <a:rPr sz="1300">
                <a:solidFill>
                  <a:srgbClr val="FFFFFF"/>
                </a:solidFill>
                <a:latin typeface="Segoe UI"/>
              </a:rPr>
              <a:t>•  (BackgroundService)</a:t>
            </a:r>
          </a:p>
          <a:p>
            <a:pPr>
              <a:spcBef>
                <a:spcPts val="400"/>
              </a:spcBef>
            </a:pPr>
            <a:r>
              <a:rPr sz="1300">
                <a:solidFill>
                  <a:srgbClr val="FFFFFF"/>
                </a:solidFill>
                <a:latin typeface="Segoe UI"/>
              </a:rPr>
              <a:t>•  </a:t>
            </a:r>
          </a:p>
          <a:p>
            <a:pPr>
              <a:spcBef>
                <a:spcPts val="400"/>
              </a:spcBef>
            </a:pPr>
            <a:r>
              <a:rPr sz="1300">
                <a:solidFill>
                  <a:srgbClr val="FFFFFF"/>
                </a:solidFill>
                <a:latin typeface="Segoe UI"/>
              </a:rPr>
              <a:t>•  GameHub (SignalR)</a:t>
            </a:r>
          </a:p>
          <a:p>
            <a:pPr>
              <a:spcBef>
                <a:spcPts val="400"/>
              </a:spcBef>
            </a:pPr>
            <a:r>
              <a:rPr sz="1300">
                <a:solidFill>
                  <a:srgbClr val="FFFFFF"/>
                </a:solidFill>
                <a:latin typeface="Segoe UI"/>
              </a:rPr>
              <a:t>•  </a:t>
            </a:r>
          </a:p>
          <a:p>
            <a:pPr>
              <a:spcBef>
                <a:spcPts val="400"/>
              </a:spcBef>
            </a:pPr>
            <a:r>
              <a:rPr sz="1300">
                <a:solidFill>
                  <a:srgbClr val="FFFFFF"/>
                </a:solidFill>
                <a:latin typeface="Segoe UI"/>
              </a:rPr>
              <a:t>•  REST Controllers</a:t>
            </a:r>
          </a:p>
        </p:txBody>
      </p:sp>
      <p:sp>
        <p:nvSpPr>
          <p:cNvPr id="12" name="Rectangle 11"/>
          <p:cNvSpPr/>
          <p:nvPr/>
        </p:nvSpPr>
        <p:spPr>
          <a:xfrm>
            <a:off x="457200" y="3200400"/>
            <a:ext cx="3566160" cy="2560320"/>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246120"/>
            <a:ext cx="3383280" cy="457200"/>
          </a:xfrm>
          <a:prstGeom prst="rect">
            <a:avLst/>
          </a:prstGeom>
          <a:noFill/>
        </p:spPr>
        <p:txBody>
          <a:bodyPr wrap="square">
            <a:spAutoFit/>
          </a:bodyPr>
          <a:lstStyle/>
          <a:p>
            <a:pPr algn="l"/>
            <a:r>
              <a:rPr sz="1600" b="1" i="0">
                <a:solidFill>
                  <a:srgbClr val="FFA726"/>
                </a:solidFill>
                <a:latin typeface="Segoe UI"/>
              </a:rPr>
              <a:t>Delphi Android App</a:t>
            </a:r>
          </a:p>
        </p:txBody>
      </p:sp>
      <p:sp>
        <p:nvSpPr>
          <p:cNvPr id="14" name="TextBox 13"/>
          <p:cNvSpPr txBox="1"/>
          <p:nvPr/>
        </p:nvSpPr>
        <p:spPr>
          <a:xfrm>
            <a:off x="548640" y="3703320"/>
            <a:ext cx="3383280" cy="1920240"/>
          </a:xfrm>
          <a:prstGeom prst="rect">
            <a:avLst/>
          </a:prstGeom>
          <a:noFill/>
        </p:spPr>
        <p:txBody>
          <a:bodyPr wrap="square">
            <a:spAutoFit/>
          </a:bodyPr>
          <a:lstStyle/>
          <a:p>
            <a:pPr>
              <a:spcBef>
                <a:spcPts val="400"/>
              </a:spcBef>
            </a:pPr>
            <a:r>
              <a:rPr sz="1300">
                <a:solidFill>
                  <a:srgbClr val="FFFFFF"/>
                </a:solidFill>
                <a:latin typeface="Segoe UI"/>
              </a:rPr>
              <a:t>•  IScoreManager</a:t>
            </a:r>
          </a:p>
          <a:p>
            <a:pPr>
              <a:spcBef>
                <a:spcPts val="400"/>
              </a:spcBef>
            </a:pPr>
            <a:r>
              <a:rPr sz="1300">
                <a:solidFill>
                  <a:srgbClr val="FFFFFF"/>
                </a:solidFill>
                <a:latin typeface="Segoe UI"/>
              </a:rPr>
              <a:t>•    └─ TServerAwareScoreManager</a:t>
            </a:r>
          </a:p>
          <a:p>
            <a:pPr>
              <a:spcBef>
                <a:spcPts val="400"/>
              </a:spcBef>
            </a:pPr>
            <a:r>
              <a:rPr sz="1300">
                <a:solidFill>
                  <a:srgbClr val="FFFFFF"/>
                </a:solidFill>
                <a:latin typeface="Segoe UI"/>
              </a:rPr>
              <a:t>•        └─ TScoreManager</a:t>
            </a:r>
          </a:p>
          <a:p>
            <a:pPr>
              <a:spcBef>
                <a:spcPts val="400"/>
              </a:spcBef>
            </a:pPr>
            <a:r>
              <a:rPr sz="1300">
                <a:solidFill>
                  <a:srgbClr val="FFFFFF"/>
                </a:solidFill>
                <a:latin typeface="Segoe UI"/>
              </a:rPr>
              <a:t>•  </a:t>
            </a:r>
          </a:p>
          <a:p>
            <a:pPr>
              <a:spcBef>
                <a:spcPts val="400"/>
              </a:spcBef>
            </a:pPr>
            <a:r>
              <a:rPr sz="1300">
                <a:solidFill>
                  <a:srgbClr val="FFFFFF"/>
                </a:solidFill>
                <a:latin typeface="Segoe UI"/>
              </a:rPr>
              <a:t>•  IServerClient</a:t>
            </a:r>
          </a:p>
          <a:p>
            <a:pPr>
              <a:spcBef>
                <a:spcPts val="400"/>
              </a:spcBef>
            </a:pPr>
            <a:r>
              <a:rPr sz="1300">
                <a:solidFill>
                  <a:srgbClr val="FFFFFF"/>
                </a:solidFill>
                <a:latin typeface="Segoe UI"/>
              </a:rPr>
              <a:t>•    └─ TServerClient</a:t>
            </a:r>
          </a:p>
          <a:p>
            <a:pPr>
              <a:spcBef>
                <a:spcPts val="400"/>
              </a:spcBef>
            </a:pPr>
            <a:r>
              <a:rPr sz="1300">
                <a:solidFill>
                  <a:srgbClr val="FFFFFF"/>
                </a:solidFill>
                <a:latin typeface="Segoe UI"/>
              </a:rPr>
              <a:t>•        TTimer (heartbeat 15 s)</a:t>
            </a:r>
          </a:p>
        </p:txBody>
      </p:sp>
      <p:sp>
        <p:nvSpPr>
          <p:cNvPr id="15" name="TextBox 14"/>
          <p:cNvSpPr txBox="1"/>
          <p:nvPr/>
        </p:nvSpPr>
        <p:spPr>
          <a:xfrm>
            <a:off x="4114800" y="4114800"/>
            <a:ext cx="3840480" cy="457200"/>
          </a:xfrm>
          <a:prstGeom prst="rect">
            <a:avLst/>
          </a:prstGeom>
          <a:noFill/>
        </p:spPr>
        <p:txBody>
          <a:bodyPr wrap="square">
            <a:spAutoFit/>
          </a:bodyPr>
          <a:lstStyle/>
          <a:p>
            <a:pPr algn="l"/>
            <a:r>
              <a:rPr sz="1300" b="0" i="1">
                <a:solidFill>
                  <a:srgbClr val="FFA726"/>
                </a:solidFill>
                <a:latin typeface="Segoe UI"/>
              </a:rPr>
              <a:t>────── REST ──────────────►</a:t>
            </a:r>
          </a:p>
        </p:txBody>
      </p:sp>
      <p:sp>
        <p:nvSpPr>
          <p:cNvPr id="16" name="TextBox 15"/>
          <p:cNvSpPr txBox="1"/>
          <p:nvPr/>
        </p:nvSpPr>
        <p:spPr>
          <a:xfrm>
            <a:off x="457200" y="6217920"/>
            <a:ext cx="11247120" cy="411480"/>
          </a:xfrm>
          <a:prstGeom prst="rect">
            <a:avLst/>
          </a:prstGeom>
          <a:noFill/>
        </p:spPr>
        <p:txBody>
          <a:bodyPr wrap="square">
            <a:spAutoFit/>
          </a:bodyPr>
          <a:lstStyle/>
          <a:p>
            <a:pPr algn="ctr"/>
            <a:r>
              <a:rPr sz="1400" b="0" i="1">
                <a:solidFill>
                  <a:srgbClr val="FFD080"/>
                </a:solidFill>
                <a:latin typeface="Segoe UI"/>
              </a:rPr>
              <a:t>App → REST only.  Browser → SignalR only.  Server bridges both.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Key Design Decisions</a:t>
            </a:r>
          </a:p>
        </p:txBody>
      </p:sp>
      <p:sp>
        <p:nvSpPr>
          <p:cNvPr id="5" name="Rectangle 4"/>
          <p:cNvSpPr/>
          <p:nvPr/>
        </p:nvSpPr>
        <p:spPr>
          <a:xfrm>
            <a:off x="365760" y="1207008"/>
            <a:ext cx="73152" cy="59436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97280"/>
            <a:ext cx="11064240" cy="411480"/>
          </a:xfrm>
          <a:prstGeom prst="rect">
            <a:avLst/>
          </a:prstGeom>
          <a:noFill/>
        </p:spPr>
        <p:txBody>
          <a:bodyPr wrap="square">
            <a:spAutoFit/>
          </a:bodyPr>
          <a:lstStyle/>
          <a:p>
            <a:pPr algn="l"/>
            <a:r>
              <a:rPr sz="1600" b="1" i="0">
                <a:solidFill>
                  <a:srgbClr val="FFA726"/>
                </a:solidFill>
                <a:latin typeface="Segoe UI"/>
              </a:rPr>
              <a:t>Interface + Decorator Pattern</a:t>
            </a:r>
          </a:p>
        </p:txBody>
      </p:sp>
      <p:sp>
        <p:nvSpPr>
          <p:cNvPr id="7" name="TextBox 6"/>
          <p:cNvSpPr txBox="1"/>
          <p:nvPr/>
        </p:nvSpPr>
        <p:spPr>
          <a:xfrm>
            <a:off x="594360" y="1499616"/>
            <a:ext cx="11064240" cy="594360"/>
          </a:xfrm>
          <a:prstGeom prst="rect">
            <a:avLst/>
          </a:prstGeom>
          <a:noFill/>
        </p:spPr>
        <p:txBody>
          <a:bodyPr wrap="square">
            <a:spAutoFit/>
          </a:bodyPr>
          <a:lstStyle/>
          <a:p>
            <a:pPr algn="l"/>
            <a:r>
              <a:rPr sz="1400" b="0" i="0">
                <a:solidFill>
                  <a:srgbClr val="FFFFFF"/>
                </a:solidFill>
                <a:latin typeface="Segoe UI"/>
              </a:rPr>
              <a:t>IScoreManager introduced in Phase 1 made the multiplayer extension zero-impact. TServerAwareScoreManager wraps the inner manager — no changes to any existing handler.</a:t>
            </a:r>
          </a:p>
        </p:txBody>
      </p:sp>
      <p:sp>
        <p:nvSpPr>
          <p:cNvPr id="8" name="Rectangle 7"/>
          <p:cNvSpPr/>
          <p:nvPr/>
        </p:nvSpPr>
        <p:spPr>
          <a:xfrm>
            <a:off x="365760" y="2286000"/>
            <a:ext cx="73152" cy="59436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76272"/>
            <a:ext cx="11064240" cy="411480"/>
          </a:xfrm>
          <a:prstGeom prst="rect">
            <a:avLst/>
          </a:prstGeom>
          <a:noFill/>
        </p:spPr>
        <p:txBody>
          <a:bodyPr wrap="square">
            <a:spAutoFit/>
          </a:bodyPr>
          <a:lstStyle/>
          <a:p>
            <a:pPr algn="l"/>
            <a:r>
              <a:rPr sz="1600" b="1" i="0">
                <a:solidFill>
                  <a:srgbClr val="FFA726"/>
                </a:solidFill>
                <a:latin typeface="Segoe UI"/>
              </a:rPr>
              <a:t>Offline-First</a:t>
            </a:r>
          </a:p>
        </p:txBody>
      </p:sp>
      <p:sp>
        <p:nvSpPr>
          <p:cNvPr id="10" name="TextBox 9"/>
          <p:cNvSpPr txBox="1"/>
          <p:nvPr/>
        </p:nvSpPr>
        <p:spPr>
          <a:xfrm>
            <a:off x="594360" y="2578608"/>
            <a:ext cx="11064240" cy="594360"/>
          </a:xfrm>
          <a:prstGeom prst="rect">
            <a:avLst/>
          </a:prstGeom>
          <a:noFill/>
        </p:spPr>
        <p:txBody>
          <a:bodyPr wrap="square">
            <a:spAutoFit/>
          </a:bodyPr>
          <a:lstStyle/>
          <a:p>
            <a:pPr algn="l"/>
            <a:r>
              <a:rPr sz="1400" b="0" i="0">
                <a:solidFill>
                  <a:srgbClr val="FFFFFF"/>
                </a:solidFill>
                <a:latin typeface="Segoe UI"/>
              </a:rPr>
              <a:t>TServerClient tracks a failure counter. After 3 consecutive failures IsConnected → false and SyncScore skips the push. The app degrades gracefully without user intervention.</a:t>
            </a:r>
          </a:p>
        </p:txBody>
      </p:sp>
      <p:sp>
        <p:nvSpPr>
          <p:cNvPr id="11" name="Rectangle 10"/>
          <p:cNvSpPr/>
          <p:nvPr/>
        </p:nvSpPr>
        <p:spPr>
          <a:xfrm>
            <a:off x="365760" y="3364992"/>
            <a:ext cx="73152" cy="59436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255264"/>
            <a:ext cx="11064240" cy="411480"/>
          </a:xfrm>
          <a:prstGeom prst="rect">
            <a:avLst/>
          </a:prstGeom>
          <a:noFill/>
        </p:spPr>
        <p:txBody>
          <a:bodyPr wrap="square">
            <a:spAutoFit/>
          </a:bodyPr>
          <a:lstStyle/>
          <a:p>
            <a:pPr algn="l"/>
            <a:r>
              <a:rPr sz="1600" b="1" i="0">
                <a:solidFill>
                  <a:srgbClr val="FFA726"/>
                </a:solidFill>
                <a:latin typeface="Segoe UI"/>
              </a:rPr>
              <a:t>In-Memory Session Store</a:t>
            </a:r>
          </a:p>
        </p:txBody>
      </p:sp>
      <p:sp>
        <p:nvSpPr>
          <p:cNvPr id="13" name="TextBox 12"/>
          <p:cNvSpPr txBox="1"/>
          <p:nvPr/>
        </p:nvSpPr>
        <p:spPr>
          <a:xfrm>
            <a:off x="594360" y="3657600"/>
            <a:ext cx="11064240" cy="594360"/>
          </a:xfrm>
          <a:prstGeom prst="rect">
            <a:avLst/>
          </a:prstGeom>
          <a:noFill/>
        </p:spPr>
        <p:txBody>
          <a:bodyPr wrap="square">
            <a:spAutoFit/>
          </a:bodyPr>
          <a:lstStyle/>
          <a:p>
            <a:pPr algn="l"/>
            <a:r>
              <a:rPr sz="1400" b="0" i="0">
                <a:solidFill>
                  <a:srgbClr val="FFFFFF"/>
                </a:solidFill>
                <a:latin typeface="Segoe UI"/>
              </a:rPr>
              <a:t>No database. ConcurrentDictionary is sufficient for a LAN game with a handful of players and a 2-hour session lifetime. Simplicity over persistence.</a:t>
            </a:r>
          </a:p>
        </p:txBody>
      </p:sp>
      <p:sp>
        <p:nvSpPr>
          <p:cNvPr id="14" name="Rectangle 13"/>
          <p:cNvSpPr/>
          <p:nvPr/>
        </p:nvSpPr>
        <p:spPr>
          <a:xfrm>
            <a:off x="365760" y="4443984"/>
            <a:ext cx="73152" cy="59436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334256"/>
            <a:ext cx="11064240" cy="411480"/>
          </a:xfrm>
          <a:prstGeom prst="rect">
            <a:avLst/>
          </a:prstGeom>
          <a:noFill/>
        </p:spPr>
        <p:txBody>
          <a:bodyPr wrap="square">
            <a:spAutoFit/>
          </a:bodyPr>
          <a:lstStyle/>
          <a:p>
            <a:pPr algn="l"/>
            <a:r>
              <a:rPr sz="1600" b="1" i="0">
                <a:solidFill>
                  <a:srgbClr val="FFA726"/>
                </a:solidFill>
                <a:latin typeface="Segoe UI"/>
              </a:rPr>
              <a:t>SignalR for Browser, REST for App</a:t>
            </a:r>
          </a:p>
        </p:txBody>
      </p:sp>
      <p:sp>
        <p:nvSpPr>
          <p:cNvPr id="16" name="TextBox 15"/>
          <p:cNvSpPr txBox="1"/>
          <p:nvPr/>
        </p:nvSpPr>
        <p:spPr>
          <a:xfrm>
            <a:off x="594360" y="4736592"/>
            <a:ext cx="11064240" cy="594360"/>
          </a:xfrm>
          <a:prstGeom prst="rect">
            <a:avLst/>
          </a:prstGeom>
          <a:noFill/>
        </p:spPr>
        <p:txBody>
          <a:bodyPr wrap="square">
            <a:spAutoFit/>
          </a:bodyPr>
          <a:lstStyle/>
          <a:p>
            <a:pPr algn="l"/>
            <a:r>
              <a:rPr sz="1400" b="0" i="0">
                <a:solidFill>
                  <a:srgbClr val="FFFFFF"/>
                </a:solidFill>
                <a:latin typeface="Segoe UI"/>
              </a:rPr>
              <a:t>Browser needs real-time push → SignalR. App only sends, never receives → plain HTTP POST on score change is simpler and avoids a WebSocket dependency in Delphi.</a:t>
            </a:r>
          </a:p>
        </p:txBody>
      </p:sp>
      <p:sp>
        <p:nvSpPr>
          <p:cNvPr id="17" name="Rectangle 16"/>
          <p:cNvSpPr/>
          <p:nvPr/>
        </p:nvSpPr>
        <p:spPr>
          <a:xfrm>
            <a:off x="365760" y="5522976"/>
            <a:ext cx="73152" cy="59436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413248"/>
            <a:ext cx="11064240" cy="411480"/>
          </a:xfrm>
          <a:prstGeom prst="rect">
            <a:avLst/>
          </a:prstGeom>
          <a:noFill/>
        </p:spPr>
        <p:txBody>
          <a:bodyPr wrap="square">
            <a:spAutoFit/>
          </a:bodyPr>
          <a:lstStyle/>
          <a:p>
            <a:pPr algn="l"/>
            <a:r>
              <a:rPr sz="1600" b="1" i="0">
                <a:solidFill>
                  <a:srgbClr val="FFA726"/>
                </a:solidFill>
                <a:latin typeface="Segoe UI"/>
              </a:rPr>
              <a:t>Unambiguous Session Codes</a:t>
            </a:r>
          </a:p>
        </p:txBody>
      </p:sp>
      <p:sp>
        <p:nvSpPr>
          <p:cNvPr id="19" name="TextBox 18"/>
          <p:cNvSpPr txBox="1"/>
          <p:nvPr/>
        </p:nvSpPr>
        <p:spPr>
          <a:xfrm>
            <a:off x="594360" y="5815584"/>
            <a:ext cx="11064240" cy="594360"/>
          </a:xfrm>
          <a:prstGeom prst="rect">
            <a:avLst/>
          </a:prstGeom>
          <a:noFill/>
        </p:spPr>
        <p:txBody>
          <a:bodyPr wrap="square">
            <a:spAutoFit/>
          </a:bodyPr>
          <a:lstStyle/>
          <a:p>
            <a:pPr algn="l"/>
            <a:r>
              <a:rPr sz="1400" b="0" i="0">
                <a:solidFill>
                  <a:srgbClr val="FFFFFF"/>
                </a:solidFill>
                <a:latin typeface="Segoe UI"/>
              </a:rPr>
              <a:t>Charset ABCDEFGHJKLMNPQRSTUVWXYZ23456789 — no 0/O or 1/I. 6 characters, ~1.07 billion combinations. No collision risk at LAN scale.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Notable Bugs Found and Fixed</a:t>
            </a:r>
          </a:p>
        </p:txBody>
      </p:sp>
      <p:sp>
        <p:nvSpPr>
          <p:cNvPr id="5" name="Rectangle 4"/>
          <p:cNvSpPr/>
          <p:nvPr/>
        </p:nvSpPr>
        <p:spPr>
          <a:xfrm>
            <a:off x="365760" y="1097280"/>
            <a:ext cx="3108960" cy="347472"/>
          </a:xfrm>
          <a:prstGeom prst="rect">
            <a:avLst/>
          </a:prstGeom>
          <a:solidFill>
            <a:srgbClr val="7B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143000"/>
            <a:ext cx="3017520" cy="301752"/>
          </a:xfrm>
          <a:prstGeom prst="rect">
            <a:avLst/>
          </a:prstGeom>
          <a:noFill/>
        </p:spPr>
        <p:txBody>
          <a:bodyPr wrap="square">
            <a:spAutoFit/>
          </a:bodyPr>
          <a:lstStyle/>
          <a:p>
            <a:pPr algn="l"/>
            <a:r>
              <a:rPr sz="1500" b="1" i="0">
                <a:solidFill>
                  <a:srgbClr val="FFA726"/>
                </a:solidFill>
                <a:latin typeface="Segoe UI"/>
              </a:rPr>
              <a:t>Bug</a:t>
            </a:r>
          </a:p>
        </p:txBody>
      </p:sp>
      <p:sp>
        <p:nvSpPr>
          <p:cNvPr id="7" name="Rectangle 6"/>
          <p:cNvSpPr/>
          <p:nvPr/>
        </p:nvSpPr>
        <p:spPr>
          <a:xfrm>
            <a:off x="3474720" y="1097280"/>
            <a:ext cx="4114800" cy="347472"/>
          </a:xfrm>
          <a:prstGeom prst="rect">
            <a:avLst/>
          </a:prstGeom>
          <a:solidFill>
            <a:srgbClr val="7B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47872" y="1143000"/>
            <a:ext cx="4023360" cy="301752"/>
          </a:xfrm>
          <a:prstGeom prst="rect">
            <a:avLst/>
          </a:prstGeom>
          <a:noFill/>
        </p:spPr>
        <p:txBody>
          <a:bodyPr wrap="square">
            <a:spAutoFit/>
          </a:bodyPr>
          <a:lstStyle/>
          <a:p>
            <a:pPr algn="l"/>
            <a:r>
              <a:rPr sz="1500" b="1" i="0">
                <a:solidFill>
                  <a:srgbClr val="FFA726"/>
                </a:solidFill>
                <a:latin typeface="Segoe UI"/>
              </a:rPr>
              <a:t>Symptom</a:t>
            </a:r>
          </a:p>
        </p:txBody>
      </p:sp>
      <p:sp>
        <p:nvSpPr>
          <p:cNvPr id="9" name="Rectangle 8"/>
          <p:cNvSpPr/>
          <p:nvPr/>
        </p:nvSpPr>
        <p:spPr>
          <a:xfrm>
            <a:off x="7589520" y="1097280"/>
            <a:ext cx="4114800" cy="347472"/>
          </a:xfrm>
          <a:prstGeom prst="rect">
            <a:avLst/>
          </a:prstGeom>
          <a:solidFill>
            <a:srgbClr val="7B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2672" y="1143000"/>
            <a:ext cx="4023360" cy="301752"/>
          </a:xfrm>
          <a:prstGeom prst="rect">
            <a:avLst/>
          </a:prstGeom>
          <a:noFill/>
        </p:spPr>
        <p:txBody>
          <a:bodyPr wrap="square">
            <a:spAutoFit/>
          </a:bodyPr>
          <a:lstStyle/>
          <a:p>
            <a:pPr algn="l"/>
            <a:r>
              <a:rPr sz="1500" b="1" i="0">
                <a:solidFill>
                  <a:srgbClr val="FFA726"/>
                </a:solidFill>
                <a:latin typeface="Segoe UI"/>
              </a:rPr>
              <a:t>Fix</a:t>
            </a:r>
          </a:p>
        </p:txBody>
      </p:sp>
      <p:sp>
        <p:nvSpPr>
          <p:cNvPr id="11" name="Rectangle 10"/>
          <p:cNvSpPr/>
          <p:nvPr/>
        </p:nvSpPr>
        <p:spPr>
          <a:xfrm>
            <a:off x="365760" y="1444752"/>
            <a:ext cx="310896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490472"/>
            <a:ext cx="3017520" cy="301752"/>
          </a:xfrm>
          <a:prstGeom prst="rect">
            <a:avLst/>
          </a:prstGeom>
          <a:noFill/>
        </p:spPr>
        <p:txBody>
          <a:bodyPr wrap="square">
            <a:spAutoFit/>
          </a:bodyPr>
          <a:lstStyle/>
          <a:p>
            <a:pPr algn="l"/>
            <a:r>
              <a:rPr sz="1300" b="0" i="0">
                <a:solidFill>
                  <a:srgbClr val="FFFFFF"/>
                </a:solidFill>
                <a:latin typeface="Segoe UI"/>
              </a:rPr>
              <a:t>ParseJoinUrl outside try/except</a:t>
            </a:r>
          </a:p>
        </p:txBody>
      </p:sp>
      <p:sp>
        <p:nvSpPr>
          <p:cNvPr id="13" name="Rectangle 12"/>
          <p:cNvSpPr/>
          <p:nvPr/>
        </p:nvSpPr>
        <p:spPr>
          <a:xfrm>
            <a:off x="3474720" y="1444752"/>
            <a:ext cx="411480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47872" y="1490472"/>
            <a:ext cx="4023360" cy="301752"/>
          </a:xfrm>
          <a:prstGeom prst="rect">
            <a:avLst/>
          </a:prstGeom>
          <a:noFill/>
        </p:spPr>
        <p:txBody>
          <a:bodyPr wrap="square">
            <a:spAutoFit/>
          </a:bodyPr>
          <a:lstStyle/>
          <a:p>
            <a:pPr algn="l"/>
            <a:r>
              <a:rPr sz="1300" b="0" i="0">
                <a:solidFill>
                  <a:srgbClr val="FFFFFF"/>
                </a:solidFill>
                <a:latin typeface="Segoe UI"/>
              </a:rPr>
              <a:t>Silent failure on bad URL — TTask swallows exception</a:t>
            </a:r>
          </a:p>
        </p:txBody>
      </p:sp>
      <p:sp>
        <p:nvSpPr>
          <p:cNvPr id="15" name="Rectangle 14"/>
          <p:cNvSpPr/>
          <p:nvPr/>
        </p:nvSpPr>
        <p:spPr>
          <a:xfrm>
            <a:off x="7589520" y="1444752"/>
            <a:ext cx="411480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62672" y="1490472"/>
            <a:ext cx="4023360" cy="301752"/>
          </a:xfrm>
          <a:prstGeom prst="rect">
            <a:avLst/>
          </a:prstGeom>
          <a:noFill/>
        </p:spPr>
        <p:txBody>
          <a:bodyPr wrap="square">
            <a:spAutoFit/>
          </a:bodyPr>
          <a:lstStyle/>
          <a:p>
            <a:pPr algn="l"/>
            <a:r>
              <a:rPr sz="1300" b="0" i="0">
                <a:solidFill>
                  <a:srgbClr val="FFFFFF"/>
                </a:solidFill>
                <a:latin typeface="Segoe UI"/>
              </a:rPr>
              <a:t>Moved inside try block</a:t>
            </a:r>
          </a:p>
        </p:txBody>
      </p:sp>
      <p:sp>
        <p:nvSpPr>
          <p:cNvPr id="17" name="Rectangle 16"/>
          <p:cNvSpPr/>
          <p:nvPr/>
        </p:nvSpPr>
        <p:spPr>
          <a:xfrm>
            <a:off x="365760" y="1792224"/>
            <a:ext cx="310896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1837944"/>
            <a:ext cx="3017520" cy="301752"/>
          </a:xfrm>
          <a:prstGeom prst="rect">
            <a:avLst/>
          </a:prstGeom>
          <a:noFill/>
        </p:spPr>
        <p:txBody>
          <a:bodyPr wrap="square">
            <a:spAutoFit/>
          </a:bodyPr>
          <a:lstStyle/>
          <a:p>
            <a:pPr algn="l"/>
            <a:r>
              <a:rPr sz="1300" b="0" i="0">
                <a:solidFill>
                  <a:srgbClr val="FFFFFF"/>
                </a:solidFill>
                <a:latin typeface="Segoe UI"/>
              </a:rPr>
              <a:t>TTask.Run + Synchronize(nil,...)</a:t>
            </a:r>
          </a:p>
        </p:txBody>
      </p:sp>
      <p:sp>
        <p:nvSpPr>
          <p:cNvPr id="19" name="Rectangle 18"/>
          <p:cNvSpPr/>
          <p:nvPr/>
        </p:nvSpPr>
        <p:spPr>
          <a:xfrm>
            <a:off x="3474720" y="1792224"/>
            <a:ext cx="411480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47872" y="1837944"/>
            <a:ext cx="4023360" cy="301752"/>
          </a:xfrm>
          <a:prstGeom prst="rect">
            <a:avLst/>
          </a:prstGeom>
          <a:noFill/>
        </p:spPr>
        <p:txBody>
          <a:bodyPr wrap="square">
            <a:spAutoFit/>
          </a:bodyPr>
          <a:lstStyle/>
          <a:p>
            <a:pPr algn="l"/>
            <a:r>
              <a:rPr sz="1300" b="0" i="0">
                <a:solidFill>
                  <a:srgbClr val="FFFFFF"/>
                </a:solidFill>
                <a:latin typeface="Segoe UI"/>
              </a:rPr>
              <a:t>UI callback never fires on Android</a:t>
            </a:r>
          </a:p>
        </p:txBody>
      </p:sp>
      <p:sp>
        <p:nvSpPr>
          <p:cNvPr id="21" name="Rectangle 20"/>
          <p:cNvSpPr/>
          <p:nvPr/>
        </p:nvSpPr>
        <p:spPr>
          <a:xfrm>
            <a:off x="7589520" y="1792224"/>
            <a:ext cx="411480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62672" y="1837944"/>
            <a:ext cx="4023360" cy="301752"/>
          </a:xfrm>
          <a:prstGeom prst="rect">
            <a:avLst/>
          </a:prstGeom>
          <a:noFill/>
        </p:spPr>
        <p:txBody>
          <a:bodyPr wrap="square">
            <a:spAutoFit/>
          </a:bodyPr>
          <a:lstStyle/>
          <a:p>
            <a:pPr algn="l"/>
            <a:r>
              <a:rPr sz="1300" b="0" i="0">
                <a:solidFill>
                  <a:srgbClr val="FFFFFF"/>
                </a:solidFill>
                <a:latin typeface="Segoe UI"/>
              </a:rPr>
              <a:t>TThread.CreateAnonymousThread + Synchronize(CurrentThread,...)</a:t>
            </a:r>
          </a:p>
        </p:txBody>
      </p:sp>
      <p:sp>
        <p:nvSpPr>
          <p:cNvPr id="23" name="Rectangle 22"/>
          <p:cNvSpPr/>
          <p:nvPr/>
        </p:nvSpPr>
        <p:spPr>
          <a:xfrm>
            <a:off x="365760" y="2139696"/>
            <a:ext cx="310896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 y="2185416"/>
            <a:ext cx="3017520" cy="301752"/>
          </a:xfrm>
          <a:prstGeom prst="rect">
            <a:avLst/>
          </a:prstGeom>
          <a:noFill/>
        </p:spPr>
        <p:txBody>
          <a:bodyPr wrap="square">
            <a:spAutoFit/>
          </a:bodyPr>
          <a:lstStyle/>
          <a:p>
            <a:pPr algn="l"/>
            <a:r>
              <a:rPr sz="1300" b="0" i="0">
                <a:solidFill>
                  <a:srgbClr val="FFFFFF"/>
                </a:solidFill>
                <a:latin typeface="Segoe UI"/>
              </a:rPr>
              <a:t>Camera deactivation in OnClose</a:t>
            </a:r>
          </a:p>
        </p:txBody>
      </p:sp>
      <p:sp>
        <p:nvSpPr>
          <p:cNvPr id="25" name="Rectangle 24"/>
          <p:cNvSpPr/>
          <p:nvPr/>
        </p:nvSpPr>
        <p:spPr>
          <a:xfrm>
            <a:off x="3474720" y="2139696"/>
            <a:ext cx="411480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47872" y="2185416"/>
            <a:ext cx="4023360" cy="301752"/>
          </a:xfrm>
          <a:prstGeom prst="rect">
            <a:avLst/>
          </a:prstGeom>
          <a:noFill/>
        </p:spPr>
        <p:txBody>
          <a:bodyPr wrap="square">
            <a:spAutoFit/>
          </a:bodyPr>
          <a:lstStyle/>
          <a:p>
            <a:pPr algn="l"/>
            <a:r>
              <a:rPr sz="1300" b="0" i="0">
                <a:solidFill>
                  <a:srgbClr val="FFFFFF"/>
                </a:solidFill>
                <a:latin typeface="Segoe UI"/>
              </a:rPr>
              <a:t>ZXing hangs, app freezes</a:t>
            </a:r>
          </a:p>
        </p:txBody>
      </p:sp>
      <p:sp>
        <p:nvSpPr>
          <p:cNvPr id="27" name="Rectangle 26"/>
          <p:cNvSpPr/>
          <p:nvPr/>
        </p:nvSpPr>
        <p:spPr>
          <a:xfrm>
            <a:off x="7589520" y="2139696"/>
            <a:ext cx="411480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62672" y="2185416"/>
            <a:ext cx="4023360" cy="301752"/>
          </a:xfrm>
          <a:prstGeom prst="rect">
            <a:avLst/>
          </a:prstGeom>
          <a:noFill/>
        </p:spPr>
        <p:txBody>
          <a:bodyPr wrap="square">
            <a:spAutoFit/>
          </a:bodyPr>
          <a:lstStyle/>
          <a:p>
            <a:pPr algn="l"/>
            <a:r>
              <a:rPr sz="1300" b="0" i="0">
                <a:solidFill>
                  <a:srgbClr val="FFFFFF"/>
                </a:solidFill>
                <a:latin typeface="Segoe UI"/>
              </a:rPr>
              <a:t>Removed Active := False from DoFormClose</a:t>
            </a:r>
          </a:p>
        </p:txBody>
      </p:sp>
      <p:sp>
        <p:nvSpPr>
          <p:cNvPr id="29" name="Rectangle 28"/>
          <p:cNvSpPr/>
          <p:nvPr/>
        </p:nvSpPr>
        <p:spPr>
          <a:xfrm>
            <a:off x="365760" y="2487168"/>
            <a:ext cx="310896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2532888"/>
            <a:ext cx="3017520" cy="301752"/>
          </a:xfrm>
          <a:prstGeom prst="rect">
            <a:avLst/>
          </a:prstGeom>
          <a:noFill/>
        </p:spPr>
        <p:txBody>
          <a:bodyPr wrap="square">
            <a:spAutoFit/>
          </a:bodyPr>
          <a:lstStyle/>
          <a:p>
            <a:pPr algn="l"/>
            <a:r>
              <a:rPr sz="1300" b="0" i="0">
                <a:solidFill>
                  <a:srgbClr val="FFFFFF"/>
                </a:solidFill>
                <a:latin typeface="Segoe UI"/>
              </a:rPr>
              <a:t>Missing ScannerFrm.fmx stub</a:t>
            </a:r>
          </a:p>
        </p:txBody>
      </p:sp>
      <p:sp>
        <p:nvSpPr>
          <p:cNvPr id="31" name="Rectangle 30"/>
          <p:cNvSpPr/>
          <p:nvPr/>
        </p:nvSpPr>
        <p:spPr>
          <a:xfrm>
            <a:off x="3474720" y="2487168"/>
            <a:ext cx="411480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47872" y="2532888"/>
            <a:ext cx="4023360" cy="301752"/>
          </a:xfrm>
          <a:prstGeom prst="rect">
            <a:avLst/>
          </a:prstGeom>
          <a:noFill/>
        </p:spPr>
        <p:txBody>
          <a:bodyPr wrap="square">
            <a:spAutoFit/>
          </a:bodyPr>
          <a:lstStyle/>
          <a:p>
            <a:pPr algn="l"/>
            <a:r>
              <a:rPr sz="1300" b="0" i="0">
                <a:solidFill>
                  <a:srgbClr val="FFFFFF"/>
                </a:solidFill>
                <a:latin typeface="Segoe UI"/>
              </a:rPr>
              <a:t>EResNotFound at runtime</a:t>
            </a:r>
          </a:p>
        </p:txBody>
      </p:sp>
      <p:sp>
        <p:nvSpPr>
          <p:cNvPr id="33" name="Rectangle 32"/>
          <p:cNvSpPr/>
          <p:nvPr/>
        </p:nvSpPr>
        <p:spPr>
          <a:xfrm>
            <a:off x="7589520" y="2487168"/>
            <a:ext cx="411480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62672" y="2532888"/>
            <a:ext cx="4023360" cy="301752"/>
          </a:xfrm>
          <a:prstGeom prst="rect">
            <a:avLst/>
          </a:prstGeom>
          <a:noFill/>
        </p:spPr>
        <p:txBody>
          <a:bodyPr wrap="square">
            <a:spAutoFit/>
          </a:bodyPr>
          <a:lstStyle/>
          <a:p>
            <a:pPr algn="l"/>
            <a:r>
              <a:rPr sz="1300" b="0" i="0">
                <a:solidFill>
                  <a:srgbClr val="FFFFFF"/>
                </a:solidFill>
                <a:latin typeface="Segoe UI"/>
              </a:rPr>
              <a:t>Created minimal FMX stub file</a:t>
            </a:r>
          </a:p>
        </p:txBody>
      </p:sp>
      <p:sp>
        <p:nvSpPr>
          <p:cNvPr id="35" name="Rectangle 34"/>
          <p:cNvSpPr/>
          <p:nvPr/>
        </p:nvSpPr>
        <p:spPr>
          <a:xfrm>
            <a:off x="365760" y="2834640"/>
            <a:ext cx="310896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8912" y="2880360"/>
            <a:ext cx="3017520" cy="301752"/>
          </a:xfrm>
          <a:prstGeom prst="rect">
            <a:avLst/>
          </a:prstGeom>
          <a:noFill/>
        </p:spPr>
        <p:txBody>
          <a:bodyPr wrap="square">
            <a:spAutoFit/>
          </a:bodyPr>
          <a:lstStyle/>
          <a:p>
            <a:pPr algn="l"/>
            <a:r>
              <a:rPr sz="1300" b="0" i="0">
                <a:solidFill>
                  <a:srgbClr val="FFFFFF"/>
                </a:solidFill>
                <a:latin typeface="Segoe UI"/>
              </a:rPr>
              <a:t>VPN interface selected as LAN IP</a:t>
            </a:r>
          </a:p>
        </p:txBody>
      </p:sp>
      <p:sp>
        <p:nvSpPr>
          <p:cNvPr id="37" name="Rectangle 36"/>
          <p:cNvSpPr/>
          <p:nvPr/>
        </p:nvSpPr>
        <p:spPr>
          <a:xfrm>
            <a:off x="3474720" y="2834640"/>
            <a:ext cx="411480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47872" y="2880360"/>
            <a:ext cx="4023360" cy="301752"/>
          </a:xfrm>
          <a:prstGeom prst="rect">
            <a:avLst/>
          </a:prstGeom>
          <a:noFill/>
        </p:spPr>
        <p:txBody>
          <a:bodyPr wrap="square">
            <a:spAutoFit/>
          </a:bodyPr>
          <a:lstStyle/>
          <a:p>
            <a:pPr algn="l"/>
            <a:r>
              <a:rPr sz="1300" b="0" i="0">
                <a:solidFill>
                  <a:srgbClr val="FFFFFF"/>
                </a:solidFill>
                <a:latin typeface="Segoe UI"/>
              </a:rPr>
              <a:t>QR encodes unreachable 10.x.x.x address</a:t>
            </a:r>
          </a:p>
        </p:txBody>
      </p:sp>
      <p:sp>
        <p:nvSpPr>
          <p:cNvPr id="39" name="Rectangle 38"/>
          <p:cNvSpPr/>
          <p:nvPr/>
        </p:nvSpPr>
        <p:spPr>
          <a:xfrm>
            <a:off x="7589520" y="2834640"/>
            <a:ext cx="411480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62672" y="2880360"/>
            <a:ext cx="4023360" cy="301752"/>
          </a:xfrm>
          <a:prstGeom prst="rect">
            <a:avLst/>
          </a:prstGeom>
          <a:noFill/>
        </p:spPr>
        <p:txBody>
          <a:bodyPr wrap="square">
            <a:spAutoFit/>
          </a:bodyPr>
          <a:lstStyle/>
          <a:p>
            <a:pPr algn="l"/>
            <a:r>
              <a:rPr sz="1300" b="0" i="0">
                <a:solidFill>
                  <a:srgbClr val="FFFFFF"/>
                </a:solidFill>
                <a:latin typeface="Segoe UI"/>
              </a:rPr>
              <a:t>IpAddressHelper prefers 192.168.x.x</a:t>
            </a:r>
          </a:p>
        </p:txBody>
      </p:sp>
      <p:sp>
        <p:nvSpPr>
          <p:cNvPr id="41" name="Rectangle 40"/>
          <p:cNvSpPr/>
          <p:nvPr/>
        </p:nvSpPr>
        <p:spPr>
          <a:xfrm>
            <a:off x="365760" y="3182112"/>
            <a:ext cx="310896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8912" y="3227832"/>
            <a:ext cx="3017520" cy="301752"/>
          </a:xfrm>
          <a:prstGeom prst="rect">
            <a:avLst/>
          </a:prstGeom>
          <a:noFill/>
        </p:spPr>
        <p:txBody>
          <a:bodyPr wrap="square">
            <a:spAutoFit/>
          </a:bodyPr>
          <a:lstStyle/>
          <a:p>
            <a:pPr algn="l"/>
            <a:r>
              <a:rPr sz="1300" b="0" i="0">
                <a:solidFill>
                  <a:srgbClr val="FFFFFF"/>
                </a:solidFill>
                <a:latin typeface="Segoe UI"/>
              </a:rPr>
              <a:t>End Spel button did nothing</a:t>
            </a:r>
          </a:p>
        </p:txBody>
      </p:sp>
      <p:sp>
        <p:nvSpPr>
          <p:cNvPr id="43" name="Rectangle 42"/>
          <p:cNvSpPr/>
          <p:nvPr/>
        </p:nvSpPr>
        <p:spPr>
          <a:xfrm>
            <a:off x="3474720" y="3182112"/>
            <a:ext cx="411480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547872" y="3227832"/>
            <a:ext cx="4023360" cy="301752"/>
          </a:xfrm>
          <a:prstGeom prst="rect">
            <a:avLst/>
          </a:prstGeom>
          <a:noFill/>
        </p:spPr>
        <p:txBody>
          <a:bodyPr wrap="square">
            <a:spAutoFit/>
          </a:bodyPr>
          <a:lstStyle/>
          <a:p>
            <a:pPr algn="l"/>
            <a:r>
              <a:rPr sz="1300" b="0" i="0">
                <a:solidFill>
                  <a:srgbClr val="FFFFFF"/>
                </a:solidFill>
                <a:latin typeface="Segoe UI"/>
              </a:rPr>
              <a:t>Relied on SignalR event that could be dropped</a:t>
            </a:r>
          </a:p>
        </p:txBody>
      </p:sp>
      <p:sp>
        <p:nvSpPr>
          <p:cNvPr id="45" name="Rectangle 44"/>
          <p:cNvSpPr/>
          <p:nvPr/>
        </p:nvSpPr>
        <p:spPr>
          <a:xfrm>
            <a:off x="7589520" y="3182112"/>
            <a:ext cx="411480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2672" y="3227832"/>
            <a:ext cx="4023360" cy="301752"/>
          </a:xfrm>
          <a:prstGeom prst="rect">
            <a:avLst/>
          </a:prstGeom>
          <a:noFill/>
        </p:spPr>
        <p:txBody>
          <a:bodyPr wrap="square">
            <a:spAutoFit/>
          </a:bodyPr>
          <a:lstStyle/>
          <a:p>
            <a:pPr algn="l"/>
            <a:r>
              <a:rPr sz="1300" b="0" i="0">
                <a:solidFill>
                  <a:srgbClr val="FFFFFF"/>
                </a:solidFill>
                <a:latin typeface="Segoe UI"/>
              </a:rPr>
              <a:t>Call showGameEnded() directly on successful DELETE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Rectangle 1"/>
          <p:cNvSpPr/>
          <p:nvPr/>
        </p:nvSpPr>
        <p:spPr>
          <a:xfrm>
            <a:off x="0" y="365760"/>
            <a:ext cx="12188952"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54864" cy="50292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411480"/>
            <a:ext cx="11731752" cy="457200"/>
          </a:xfrm>
          <a:prstGeom prst="rect">
            <a:avLst/>
          </a:prstGeom>
          <a:noFill/>
        </p:spPr>
        <p:txBody>
          <a:bodyPr wrap="square">
            <a:spAutoFit/>
          </a:bodyPr>
          <a:lstStyle/>
          <a:p>
            <a:pPr algn="l"/>
            <a:r>
              <a:rPr sz="2800" b="1" i="0">
                <a:solidFill>
                  <a:srgbClr val="FFA726"/>
                </a:solidFill>
                <a:latin typeface="Segoe UI"/>
              </a:rPr>
              <a:t>REST API Reference</a:t>
            </a:r>
          </a:p>
        </p:txBody>
      </p:sp>
      <p:sp>
        <p:nvSpPr>
          <p:cNvPr id="5" name="Rectangle 4"/>
          <p:cNvSpPr/>
          <p:nvPr/>
        </p:nvSpPr>
        <p:spPr>
          <a:xfrm>
            <a:off x="365760" y="1051560"/>
            <a:ext cx="1005840" cy="347472"/>
          </a:xfrm>
          <a:prstGeom prst="rect">
            <a:avLst/>
          </a:prstGeom>
          <a:solidFill>
            <a:srgbClr val="7B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097280"/>
            <a:ext cx="914400" cy="301752"/>
          </a:xfrm>
          <a:prstGeom prst="rect">
            <a:avLst/>
          </a:prstGeom>
          <a:noFill/>
        </p:spPr>
        <p:txBody>
          <a:bodyPr wrap="square">
            <a:spAutoFit/>
          </a:bodyPr>
          <a:lstStyle/>
          <a:p>
            <a:pPr algn="l"/>
            <a:r>
              <a:rPr sz="1400" b="1" i="0">
                <a:solidFill>
                  <a:srgbClr val="FFA726"/>
                </a:solidFill>
                <a:latin typeface="Segoe UI"/>
              </a:rPr>
              <a:t>Method</a:t>
            </a:r>
          </a:p>
        </p:txBody>
      </p:sp>
      <p:sp>
        <p:nvSpPr>
          <p:cNvPr id="7" name="Rectangle 6"/>
          <p:cNvSpPr/>
          <p:nvPr/>
        </p:nvSpPr>
        <p:spPr>
          <a:xfrm>
            <a:off x="1371600" y="1051560"/>
            <a:ext cx="5029200" cy="347472"/>
          </a:xfrm>
          <a:prstGeom prst="rect">
            <a:avLst/>
          </a:prstGeom>
          <a:solidFill>
            <a:srgbClr val="7B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44752" y="1097280"/>
            <a:ext cx="4937760" cy="301752"/>
          </a:xfrm>
          <a:prstGeom prst="rect">
            <a:avLst/>
          </a:prstGeom>
          <a:noFill/>
        </p:spPr>
        <p:txBody>
          <a:bodyPr wrap="square">
            <a:spAutoFit/>
          </a:bodyPr>
          <a:lstStyle/>
          <a:p>
            <a:pPr algn="l"/>
            <a:r>
              <a:rPr sz="1400" b="1" i="0">
                <a:solidFill>
                  <a:srgbClr val="FFA726"/>
                </a:solidFill>
                <a:latin typeface="Segoe UI"/>
              </a:rPr>
              <a:t>Endpoint</a:t>
            </a:r>
          </a:p>
        </p:txBody>
      </p:sp>
      <p:sp>
        <p:nvSpPr>
          <p:cNvPr id="9" name="Rectangle 8"/>
          <p:cNvSpPr/>
          <p:nvPr/>
        </p:nvSpPr>
        <p:spPr>
          <a:xfrm>
            <a:off x="6400800" y="1051560"/>
            <a:ext cx="5303520" cy="347472"/>
          </a:xfrm>
          <a:prstGeom prst="rect">
            <a:avLst/>
          </a:prstGeom>
          <a:solidFill>
            <a:srgbClr val="7B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2" y="1097280"/>
            <a:ext cx="5212080" cy="301752"/>
          </a:xfrm>
          <a:prstGeom prst="rect">
            <a:avLst/>
          </a:prstGeom>
          <a:noFill/>
        </p:spPr>
        <p:txBody>
          <a:bodyPr wrap="square">
            <a:spAutoFit/>
          </a:bodyPr>
          <a:lstStyle/>
          <a:p>
            <a:pPr algn="l"/>
            <a:r>
              <a:rPr sz="1400" b="1" i="0">
                <a:solidFill>
                  <a:srgbClr val="FFA726"/>
                </a:solidFill>
                <a:latin typeface="Segoe UI"/>
              </a:rPr>
              <a:t>Purpose</a:t>
            </a:r>
          </a:p>
        </p:txBody>
      </p:sp>
      <p:sp>
        <p:nvSpPr>
          <p:cNvPr id="11" name="Rectangle 10"/>
          <p:cNvSpPr/>
          <p:nvPr/>
        </p:nvSpPr>
        <p:spPr>
          <a:xfrm>
            <a:off x="365760" y="1399032"/>
            <a:ext cx="100584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444752"/>
            <a:ext cx="914400" cy="301752"/>
          </a:xfrm>
          <a:prstGeom prst="rect">
            <a:avLst/>
          </a:prstGeom>
          <a:noFill/>
        </p:spPr>
        <p:txBody>
          <a:bodyPr wrap="square">
            <a:spAutoFit/>
          </a:bodyPr>
          <a:lstStyle/>
          <a:p>
            <a:pPr algn="l"/>
            <a:r>
              <a:rPr sz="1300" b="0" i="0">
                <a:solidFill>
                  <a:srgbClr val="FFFFFF"/>
                </a:solidFill>
                <a:latin typeface="Segoe UI"/>
              </a:rPr>
              <a:t>POST</a:t>
            </a:r>
          </a:p>
        </p:txBody>
      </p:sp>
      <p:sp>
        <p:nvSpPr>
          <p:cNvPr id="13" name="Rectangle 12"/>
          <p:cNvSpPr/>
          <p:nvPr/>
        </p:nvSpPr>
        <p:spPr>
          <a:xfrm>
            <a:off x="1371600" y="1399032"/>
            <a:ext cx="502920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44752" y="1444752"/>
            <a:ext cx="4937760" cy="301752"/>
          </a:xfrm>
          <a:prstGeom prst="rect">
            <a:avLst/>
          </a:prstGeom>
          <a:noFill/>
        </p:spPr>
        <p:txBody>
          <a:bodyPr wrap="square">
            <a:spAutoFit/>
          </a:bodyPr>
          <a:lstStyle/>
          <a:p>
            <a:pPr algn="l"/>
            <a:r>
              <a:rPr sz="1300" b="0" i="0">
                <a:solidFill>
                  <a:srgbClr val="FFFFFF"/>
                </a:solidFill>
                <a:latin typeface="Segoe UI"/>
              </a:rPr>
              <a:t>/api/sessions</a:t>
            </a:r>
          </a:p>
        </p:txBody>
      </p:sp>
      <p:sp>
        <p:nvSpPr>
          <p:cNvPr id="15" name="Rectangle 14"/>
          <p:cNvSpPr/>
          <p:nvPr/>
        </p:nvSpPr>
        <p:spPr>
          <a:xfrm>
            <a:off x="6400800" y="1399032"/>
            <a:ext cx="530352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1444752"/>
            <a:ext cx="5212080" cy="301752"/>
          </a:xfrm>
          <a:prstGeom prst="rect">
            <a:avLst/>
          </a:prstGeom>
          <a:noFill/>
        </p:spPr>
        <p:txBody>
          <a:bodyPr wrap="square">
            <a:spAutoFit/>
          </a:bodyPr>
          <a:lstStyle/>
          <a:p>
            <a:pPr algn="l"/>
            <a:r>
              <a:rPr sz="1300" b="0" i="0">
                <a:solidFill>
                  <a:srgbClr val="FFFFFF"/>
                </a:solidFill>
                <a:latin typeface="Segoe UI"/>
              </a:rPr>
              <a:t>Create session → { sessionId, joinUrl }</a:t>
            </a:r>
          </a:p>
        </p:txBody>
      </p:sp>
      <p:sp>
        <p:nvSpPr>
          <p:cNvPr id="17" name="Rectangle 16"/>
          <p:cNvSpPr/>
          <p:nvPr/>
        </p:nvSpPr>
        <p:spPr>
          <a:xfrm>
            <a:off x="365760" y="1746504"/>
            <a:ext cx="100584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1792224"/>
            <a:ext cx="914400" cy="301752"/>
          </a:xfrm>
          <a:prstGeom prst="rect">
            <a:avLst/>
          </a:prstGeom>
          <a:noFill/>
        </p:spPr>
        <p:txBody>
          <a:bodyPr wrap="square">
            <a:spAutoFit/>
          </a:bodyPr>
          <a:lstStyle/>
          <a:p>
            <a:pPr algn="l"/>
            <a:r>
              <a:rPr sz="1300" b="0" i="0">
                <a:solidFill>
                  <a:srgbClr val="FFFFFF"/>
                </a:solidFill>
                <a:latin typeface="Segoe UI"/>
              </a:rPr>
              <a:t>GET</a:t>
            </a:r>
          </a:p>
        </p:txBody>
      </p:sp>
      <p:sp>
        <p:nvSpPr>
          <p:cNvPr id="19" name="Rectangle 18"/>
          <p:cNvSpPr/>
          <p:nvPr/>
        </p:nvSpPr>
        <p:spPr>
          <a:xfrm>
            <a:off x="1371600" y="1746504"/>
            <a:ext cx="502920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44752" y="1792224"/>
            <a:ext cx="4937760" cy="301752"/>
          </a:xfrm>
          <a:prstGeom prst="rect">
            <a:avLst/>
          </a:prstGeom>
          <a:noFill/>
        </p:spPr>
        <p:txBody>
          <a:bodyPr wrap="square">
            <a:spAutoFit/>
          </a:bodyPr>
          <a:lstStyle/>
          <a:p>
            <a:pPr algn="l"/>
            <a:r>
              <a:rPr sz="1300" b="0" i="0">
                <a:solidFill>
                  <a:srgbClr val="FFFFFF"/>
                </a:solidFill>
                <a:latin typeface="Segoe UI"/>
              </a:rPr>
              <a:t>/api/sessions/{id}</a:t>
            </a:r>
          </a:p>
        </p:txBody>
      </p:sp>
      <p:sp>
        <p:nvSpPr>
          <p:cNvPr id="21" name="Rectangle 20"/>
          <p:cNvSpPr/>
          <p:nvPr/>
        </p:nvSpPr>
        <p:spPr>
          <a:xfrm>
            <a:off x="6400800" y="1746504"/>
            <a:ext cx="530352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1792224"/>
            <a:ext cx="5212080" cy="301752"/>
          </a:xfrm>
          <a:prstGeom prst="rect">
            <a:avLst/>
          </a:prstGeom>
          <a:noFill/>
        </p:spPr>
        <p:txBody>
          <a:bodyPr wrap="square">
            <a:spAutoFit/>
          </a:bodyPr>
          <a:lstStyle/>
          <a:p>
            <a:pPr algn="l"/>
            <a:r>
              <a:rPr sz="1300" b="0" i="0">
                <a:solidFill>
                  <a:srgbClr val="FFFFFF"/>
                </a:solidFill>
                <a:latin typeface="Segoe UI"/>
              </a:rPr>
              <a:t>Get session state + player list</a:t>
            </a:r>
          </a:p>
        </p:txBody>
      </p:sp>
      <p:sp>
        <p:nvSpPr>
          <p:cNvPr id="23" name="Rectangle 22"/>
          <p:cNvSpPr/>
          <p:nvPr/>
        </p:nvSpPr>
        <p:spPr>
          <a:xfrm>
            <a:off x="365760" y="2093976"/>
            <a:ext cx="100584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 y="2139696"/>
            <a:ext cx="914400" cy="301752"/>
          </a:xfrm>
          <a:prstGeom prst="rect">
            <a:avLst/>
          </a:prstGeom>
          <a:noFill/>
        </p:spPr>
        <p:txBody>
          <a:bodyPr wrap="square">
            <a:spAutoFit/>
          </a:bodyPr>
          <a:lstStyle/>
          <a:p>
            <a:pPr algn="l"/>
            <a:r>
              <a:rPr sz="1300" b="0" i="0">
                <a:solidFill>
                  <a:srgbClr val="FFFFFF"/>
                </a:solidFill>
                <a:latin typeface="Segoe UI"/>
              </a:rPr>
              <a:t>POST</a:t>
            </a:r>
          </a:p>
        </p:txBody>
      </p:sp>
      <p:sp>
        <p:nvSpPr>
          <p:cNvPr id="25" name="Rectangle 24"/>
          <p:cNvSpPr/>
          <p:nvPr/>
        </p:nvSpPr>
        <p:spPr>
          <a:xfrm>
            <a:off x="1371600" y="2093976"/>
            <a:ext cx="502920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44752" y="2139696"/>
            <a:ext cx="4937760" cy="301752"/>
          </a:xfrm>
          <a:prstGeom prst="rect">
            <a:avLst/>
          </a:prstGeom>
          <a:noFill/>
        </p:spPr>
        <p:txBody>
          <a:bodyPr wrap="square">
            <a:spAutoFit/>
          </a:bodyPr>
          <a:lstStyle/>
          <a:p>
            <a:pPr algn="l"/>
            <a:r>
              <a:rPr sz="1300" b="0" i="0">
                <a:solidFill>
                  <a:srgbClr val="FFFFFF"/>
                </a:solidFill>
                <a:latin typeface="Segoe UI"/>
              </a:rPr>
              <a:t>/api/sessions/{id}/start</a:t>
            </a:r>
          </a:p>
        </p:txBody>
      </p:sp>
      <p:sp>
        <p:nvSpPr>
          <p:cNvPr id="27" name="Rectangle 26"/>
          <p:cNvSpPr/>
          <p:nvPr/>
        </p:nvSpPr>
        <p:spPr>
          <a:xfrm>
            <a:off x="6400800" y="2093976"/>
            <a:ext cx="530352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2139696"/>
            <a:ext cx="5212080" cy="301752"/>
          </a:xfrm>
          <a:prstGeom prst="rect">
            <a:avLst/>
          </a:prstGeom>
          <a:noFill/>
        </p:spPr>
        <p:txBody>
          <a:bodyPr wrap="square">
            <a:spAutoFit/>
          </a:bodyPr>
          <a:lstStyle/>
          <a:p>
            <a:pPr algn="l"/>
            <a:r>
              <a:rPr sz="1300" b="0" i="0">
                <a:solidFill>
                  <a:srgbClr val="FFFFFF"/>
                </a:solidFill>
                <a:latin typeface="Segoe UI"/>
              </a:rPr>
              <a:t>Start the game</a:t>
            </a:r>
          </a:p>
        </p:txBody>
      </p:sp>
      <p:sp>
        <p:nvSpPr>
          <p:cNvPr id="29" name="Rectangle 28"/>
          <p:cNvSpPr/>
          <p:nvPr/>
        </p:nvSpPr>
        <p:spPr>
          <a:xfrm>
            <a:off x="365760" y="2441448"/>
            <a:ext cx="100584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2487168"/>
            <a:ext cx="914400" cy="301752"/>
          </a:xfrm>
          <a:prstGeom prst="rect">
            <a:avLst/>
          </a:prstGeom>
          <a:noFill/>
        </p:spPr>
        <p:txBody>
          <a:bodyPr wrap="square">
            <a:spAutoFit/>
          </a:bodyPr>
          <a:lstStyle/>
          <a:p>
            <a:pPr algn="l"/>
            <a:r>
              <a:rPr sz="1300" b="0" i="0">
                <a:solidFill>
                  <a:srgbClr val="FFFFFF"/>
                </a:solidFill>
                <a:latin typeface="Segoe UI"/>
              </a:rPr>
              <a:t>DELETE</a:t>
            </a:r>
          </a:p>
        </p:txBody>
      </p:sp>
      <p:sp>
        <p:nvSpPr>
          <p:cNvPr id="31" name="Rectangle 30"/>
          <p:cNvSpPr/>
          <p:nvPr/>
        </p:nvSpPr>
        <p:spPr>
          <a:xfrm>
            <a:off x="1371600" y="2441448"/>
            <a:ext cx="502920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44752" y="2487168"/>
            <a:ext cx="4937760" cy="301752"/>
          </a:xfrm>
          <a:prstGeom prst="rect">
            <a:avLst/>
          </a:prstGeom>
          <a:noFill/>
        </p:spPr>
        <p:txBody>
          <a:bodyPr wrap="square">
            <a:spAutoFit/>
          </a:bodyPr>
          <a:lstStyle/>
          <a:p>
            <a:pPr algn="l"/>
            <a:r>
              <a:rPr sz="1300" b="0" i="0">
                <a:solidFill>
                  <a:srgbClr val="FFFFFF"/>
                </a:solidFill>
                <a:latin typeface="Segoe UI"/>
              </a:rPr>
              <a:t>/api/sessions/{id}</a:t>
            </a:r>
          </a:p>
        </p:txBody>
      </p:sp>
      <p:sp>
        <p:nvSpPr>
          <p:cNvPr id="33" name="Rectangle 32"/>
          <p:cNvSpPr/>
          <p:nvPr/>
        </p:nvSpPr>
        <p:spPr>
          <a:xfrm>
            <a:off x="6400800" y="2441448"/>
            <a:ext cx="530352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73952" y="2487168"/>
            <a:ext cx="5212080" cy="301752"/>
          </a:xfrm>
          <a:prstGeom prst="rect">
            <a:avLst/>
          </a:prstGeom>
          <a:noFill/>
        </p:spPr>
        <p:txBody>
          <a:bodyPr wrap="square">
            <a:spAutoFit/>
          </a:bodyPr>
          <a:lstStyle/>
          <a:p>
            <a:pPr algn="l"/>
            <a:r>
              <a:rPr sz="1300" b="0" i="0">
                <a:solidFill>
                  <a:srgbClr val="FFFFFF"/>
                </a:solidFill>
                <a:latin typeface="Segoe UI"/>
              </a:rPr>
              <a:t>End and delete session → GameEnded</a:t>
            </a:r>
          </a:p>
        </p:txBody>
      </p:sp>
      <p:sp>
        <p:nvSpPr>
          <p:cNvPr id="35" name="Rectangle 34"/>
          <p:cNvSpPr/>
          <p:nvPr/>
        </p:nvSpPr>
        <p:spPr>
          <a:xfrm>
            <a:off x="365760" y="2788920"/>
            <a:ext cx="100584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8912" y="2834640"/>
            <a:ext cx="914400" cy="301752"/>
          </a:xfrm>
          <a:prstGeom prst="rect">
            <a:avLst/>
          </a:prstGeom>
          <a:noFill/>
        </p:spPr>
        <p:txBody>
          <a:bodyPr wrap="square">
            <a:spAutoFit/>
          </a:bodyPr>
          <a:lstStyle/>
          <a:p>
            <a:pPr algn="l"/>
            <a:r>
              <a:rPr sz="1300" b="0" i="0">
                <a:solidFill>
                  <a:srgbClr val="FFFFFF"/>
                </a:solidFill>
                <a:latin typeface="Segoe UI"/>
              </a:rPr>
              <a:t>POST</a:t>
            </a:r>
          </a:p>
        </p:txBody>
      </p:sp>
      <p:sp>
        <p:nvSpPr>
          <p:cNvPr id="37" name="Rectangle 36"/>
          <p:cNvSpPr/>
          <p:nvPr/>
        </p:nvSpPr>
        <p:spPr>
          <a:xfrm>
            <a:off x="1371600" y="2788920"/>
            <a:ext cx="502920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444752" y="2834640"/>
            <a:ext cx="4937760" cy="301752"/>
          </a:xfrm>
          <a:prstGeom prst="rect">
            <a:avLst/>
          </a:prstGeom>
          <a:noFill/>
        </p:spPr>
        <p:txBody>
          <a:bodyPr wrap="square">
            <a:spAutoFit/>
          </a:bodyPr>
          <a:lstStyle/>
          <a:p>
            <a:pPr algn="l"/>
            <a:r>
              <a:rPr sz="1300" b="0" i="0">
                <a:solidFill>
                  <a:srgbClr val="FFFFFF"/>
                </a:solidFill>
                <a:latin typeface="Segoe UI"/>
              </a:rPr>
              <a:t>/api/sessions/{id}/players</a:t>
            </a:r>
          </a:p>
        </p:txBody>
      </p:sp>
      <p:sp>
        <p:nvSpPr>
          <p:cNvPr id="39" name="Rectangle 38"/>
          <p:cNvSpPr/>
          <p:nvPr/>
        </p:nvSpPr>
        <p:spPr>
          <a:xfrm>
            <a:off x="6400800" y="2788920"/>
            <a:ext cx="530352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73952" y="2834640"/>
            <a:ext cx="5212080" cy="301752"/>
          </a:xfrm>
          <a:prstGeom prst="rect">
            <a:avLst/>
          </a:prstGeom>
          <a:noFill/>
        </p:spPr>
        <p:txBody>
          <a:bodyPr wrap="square">
            <a:spAutoFit/>
          </a:bodyPr>
          <a:lstStyle/>
          <a:p>
            <a:pPr algn="l"/>
            <a:r>
              <a:rPr sz="1300" b="0" i="0">
                <a:solidFill>
                  <a:srgbClr val="FFFFFF"/>
                </a:solidFill>
                <a:latin typeface="Segoe UI"/>
              </a:rPr>
              <a:t>Register player → { playerId }</a:t>
            </a:r>
          </a:p>
        </p:txBody>
      </p:sp>
      <p:sp>
        <p:nvSpPr>
          <p:cNvPr id="41" name="Rectangle 40"/>
          <p:cNvSpPr/>
          <p:nvPr/>
        </p:nvSpPr>
        <p:spPr>
          <a:xfrm>
            <a:off x="365760" y="3136392"/>
            <a:ext cx="100584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8912" y="3182112"/>
            <a:ext cx="914400" cy="301752"/>
          </a:xfrm>
          <a:prstGeom prst="rect">
            <a:avLst/>
          </a:prstGeom>
          <a:noFill/>
        </p:spPr>
        <p:txBody>
          <a:bodyPr wrap="square">
            <a:spAutoFit/>
          </a:bodyPr>
          <a:lstStyle/>
          <a:p>
            <a:pPr algn="l"/>
            <a:r>
              <a:rPr sz="1300" b="0" i="0">
                <a:solidFill>
                  <a:srgbClr val="FFFFFF"/>
                </a:solidFill>
                <a:latin typeface="Segoe UI"/>
              </a:rPr>
              <a:t>GET</a:t>
            </a:r>
          </a:p>
        </p:txBody>
      </p:sp>
      <p:sp>
        <p:nvSpPr>
          <p:cNvPr id="43" name="Rectangle 42"/>
          <p:cNvSpPr/>
          <p:nvPr/>
        </p:nvSpPr>
        <p:spPr>
          <a:xfrm>
            <a:off x="1371600" y="3136392"/>
            <a:ext cx="502920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44752" y="3182112"/>
            <a:ext cx="4937760" cy="301752"/>
          </a:xfrm>
          <a:prstGeom prst="rect">
            <a:avLst/>
          </a:prstGeom>
          <a:noFill/>
        </p:spPr>
        <p:txBody>
          <a:bodyPr wrap="square">
            <a:spAutoFit/>
          </a:bodyPr>
          <a:lstStyle/>
          <a:p>
            <a:pPr algn="l"/>
            <a:r>
              <a:rPr sz="1300" b="0" i="0">
                <a:solidFill>
                  <a:srgbClr val="FFFFFF"/>
                </a:solidFill>
                <a:latin typeface="Segoe UI"/>
              </a:rPr>
              <a:t>/api/sessions/{id}/players</a:t>
            </a:r>
          </a:p>
        </p:txBody>
      </p:sp>
      <p:sp>
        <p:nvSpPr>
          <p:cNvPr id="45" name="Rectangle 44"/>
          <p:cNvSpPr/>
          <p:nvPr/>
        </p:nvSpPr>
        <p:spPr>
          <a:xfrm>
            <a:off x="6400800" y="3136392"/>
            <a:ext cx="530352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73952" y="3182112"/>
            <a:ext cx="5212080" cy="301752"/>
          </a:xfrm>
          <a:prstGeom prst="rect">
            <a:avLst/>
          </a:prstGeom>
          <a:noFill/>
        </p:spPr>
        <p:txBody>
          <a:bodyPr wrap="square">
            <a:spAutoFit/>
          </a:bodyPr>
          <a:lstStyle/>
          <a:p>
            <a:pPr algn="l"/>
            <a:r>
              <a:rPr sz="1300" b="0" i="0">
                <a:solidFill>
                  <a:srgbClr val="FFFFFF"/>
                </a:solidFill>
                <a:latin typeface="Segoe UI"/>
              </a:rPr>
              <a:t>List all players</a:t>
            </a:r>
          </a:p>
        </p:txBody>
      </p:sp>
      <p:sp>
        <p:nvSpPr>
          <p:cNvPr id="47" name="Rectangle 46"/>
          <p:cNvSpPr/>
          <p:nvPr/>
        </p:nvSpPr>
        <p:spPr>
          <a:xfrm>
            <a:off x="365760" y="3483864"/>
            <a:ext cx="100584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8912" y="3529584"/>
            <a:ext cx="914400" cy="301752"/>
          </a:xfrm>
          <a:prstGeom prst="rect">
            <a:avLst/>
          </a:prstGeom>
          <a:noFill/>
        </p:spPr>
        <p:txBody>
          <a:bodyPr wrap="square">
            <a:spAutoFit/>
          </a:bodyPr>
          <a:lstStyle/>
          <a:p>
            <a:pPr algn="l"/>
            <a:r>
              <a:rPr sz="1300" b="0" i="0">
                <a:solidFill>
                  <a:srgbClr val="FFFFFF"/>
                </a:solidFill>
                <a:latin typeface="Segoe UI"/>
              </a:rPr>
              <a:t>PUT</a:t>
            </a:r>
          </a:p>
        </p:txBody>
      </p:sp>
      <p:sp>
        <p:nvSpPr>
          <p:cNvPr id="49" name="Rectangle 48"/>
          <p:cNvSpPr/>
          <p:nvPr/>
        </p:nvSpPr>
        <p:spPr>
          <a:xfrm>
            <a:off x="1371600" y="3483864"/>
            <a:ext cx="502920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444752" y="3529584"/>
            <a:ext cx="4937760" cy="301752"/>
          </a:xfrm>
          <a:prstGeom prst="rect">
            <a:avLst/>
          </a:prstGeom>
          <a:noFill/>
        </p:spPr>
        <p:txBody>
          <a:bodyPr wrap="square">
            <a:spAutoFit/>
          </a:bodyPr>
          <a:lstStyle/>
          <a:p>
            <a:pPr algn="l"/>
            <a:r>
              <a:rPr sz="1300" b="0" i="0">
                <a:solidFill>
                  <a:srgbClr val="FFFFFF"/>
                </a:solidFill>
                <a:latin typeface="Segoe UI"/>
              </a:rPr>
              <a:t>/api/sessions/{id}/players/{pid}/score</a:t>
            </a:r>
          </a:p>
        </p:txBody>
      </p:sp>
      <p:sp>
        <p:nvSpPr>
          <p:cNvPr id="51" name="Rectangle 50"/>
          <p:cNvSpPr/>
          <p:nvPr/>
        </p:nvSpPr>
        <p:spPr>
          <a:xfrm>
            <a:off x="6400800" y="3483864"/>
            <a:ext cx="530352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73952" y="3529584"/>
            <a:ext cx="5212080" cy="301752"/>
          </a:xfrm>
          <a:prstGeom prst="rect">
            <a:avLst/>
          </a:prstGeom>
          <a:noFill/>
        </p:spPr>
        <p:txBody>
          <a:bodyPr wrap="square">
            <a:spAutoFit/>
          </a:bodyPr>
          <a:lstStyle/>
          <a:p>
            <a:pPr algn="l"/>
            <a:r>
              <a:rPr sz="1300" b="0" i="0">
                <a:solidFill>
                  <a:srgbClr val="FFFFFF"/>
                </a:solidFill>
                <a:latin typeface="Segoe UI"/>
              </a:rPr>
              <a:t>Push score update → ScoreUpdated</a:t>
            </a:r>
          </a:p>
        </p:txBody>
      </p:sp>
      <p:sp>
        <p:nvSpPr>
          <p:cNvPr id="53" name="Rectangle 52"/>
          <p:cNvSpPr/>
          <p:nvPr/>
        </p:nvSpPr>
        <p:spPr>
          <a:xfrm>
            <a:off x="365760" y="3831336"/>
            <a:ext cx="100584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8912" y="3877056"/>
            <a:ext cx="914400" cy="301752"/>
          </a:xfrm>
          <a:prstGeom prst="rect">
            <a:avLst/>
          </a:prstGeom>
          <a:noFill/>
        </p:spPr>
        <p:txBody>
          <a:bodyPr wrap="square">
            <a:spAutoFit/>
          </a:bodyPr>
          <a:lstStyle/>
          <a:p>
            <a:pPr algn="l"/>
            <a:r>
              <a:rPr sz="1300" b="0" i="0">
                <a:solidFill>
                  <a:srgbClr val="FFFFFF"/>
                </a:solidFill>
                <a:latin typeface="Segoe UI"/>
              </a:rPr>
              <a:t>POST</a:t>
            </a:r>
          </a:p>
        </p:txBody>
      </p:sp>
      <p:sp>
        <p:nvSpPr>
          <p:cNvPr id="55" name="Rectangle 54"/>
          <p:cNvSpPr/>
          <p:nvPr/>
        </p:nvSpPr>
        <p:spPr>
          <a:xfrm>
            <a:off x="1371600" y="3831336"/>
            <a:ext cx="502920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444752" y="3877056"/>
            <a:ext cx="4937760" cy="301752"/>
          </a:xfrm>
          <a:prstGeom prst="rect">
            <a:avLst/>
          </a:prstGeom>
          <a:noFill/>
        </p:spPr>
        <p:txBody>
          <a:bodyPr wrap="square">
            <a:spAutoFit/>
          </a:bodyPr>
          <a:lstStyle/>
          <a:p>
            <a:pPr algn="l"/>
            <a:r>
              <a:rPr sz="1300" b="0" i="0">
                <a:solidFill>
                  <a:srgbClr val="FFFFFF"/>
                </a:solidFill>
                <a:latin typeface="Segoe UI"/>
              </a:rPr>
              <a:t>/api/sessions/{id}/players/{pid}/heartbeat</a:t>
            </a:r>
          </a:p>
        </p:txBody>
      </p:sp>
      <p:sp>
        <p:nvSpPr>
          <p:cNvPr id="57" name="Rectangle 56"/>
          <p:cNvSpPr/>
          <p:nvPr/>
        </p:nvSpPr>
        <p:spPr>
          <a:xfrm>
            <a:off x="6400800" y="3831336"/>
            <a:ext cx="530352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73952" y="3877056"/>
            <a:ext cx="5212080" cy="301752"/>
          </a:xfrm>
          <a:prstGeom prst="rect">
            <a:avLst/>
          </a:prstGeom>
          <a:noFill/>
        </p:spPr>
        <p:txBody>
          <a:bodyPr wrap="square">
            <a:spAutoFit/>
          </a:bodyPr>
          <a:lstStyle/>
          <a:p>
            <a:pPr algn="l"/>
            <a:r>
              <a:rPr sz="1300" b="0" i="0">
                <a:solidFill>
                  <a:srgbClr val="FFFFFF"/>
                </a:solidFill>
                <a:latin typeface="Segoe UI"/>
              </a:rPr>
              <a:t>Keep-alive (every 15 s)</a:t>
            </a:r>
          </a:p>
        </p:txBody>
      </p:sp>
      <p:sp>
        <p:nvSpPr>
          <p:cNvPr id="59" name="Rectangle 58"/>
          <p:cNvSpPr/>
          <p:nvPr/>
        </p:nvSpPr>
        <p:spPr>
          <a:xfrm>
            <a:off x="365760" y="4178808"/>
            <a:ext cx="100584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38912" y="4224528"/>
            <a:ext cx="914400" cy="301752"/>
          </a:xfrm>
          <a:prstGeom prst="rect">
            <a:avLst/>
          </a:prstGeom>
          <a:noFill/>
        </p:spPr>
        <p:txBody>
          <a:bodyPr wrap="square">
            <a:spAutoFit/>
          </a:bodyPr>
          <a:lstStyle/>
          <a:p>
            <a:pPr algn="l"/>
            <a:r>
              <a:rPr sz="1300" b="0" i="0">
                <a:solidFill>
                  <a:srgbClr val="FFFFFF"/>
                </a:solidFill>
                <a:latin typeface="Segoe UI"/>
              </a:rPr>
              <a:t>GET</a:t>
            </a:r>
          </a:p>
        </p:txBody>
      </p:sp>
      <p:sp>
        <p:nvSpPr>
          <p:cNvPr id="61" name="Rectangle 60"/>
          <p:cNvSpPr/>
          <p:nvPr/>
        </p:nvSpPr>
        <p:spPr>
          <a:xfrm>
            <a:off x="1371600" y="4178808"/>
            <a:ext cx="502920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444752" y="4224528"/>
            <a:ext cx="4937760" cy="301752"/>
          </a:xfrm>
          <a:prstGeom prst="rect">
            <a:avLst/>
          </a:prstGeom>
          <a:noFill/>
        </p:spPr>
        <p:txBody>
          <a:bodyPr wrap="square">
            <a:spAutoFit/>
          </a:bodyPr>
          <a:lstStyle/>
          <a:p>
            <a:pPr algn="l"/>
            <a:r>
              <a:rPr sz="1300" b="0" i="0">
                <a:solidFill>
                  <a:srgbClr val="FFFFFF"/>
                </a:solidFill>
                <a:latin typeface="Segoe UI"/>
              </a:rPr>
              <a:t>/api/sessions/{id}/qr</a:t>
            </a:r>
          </a:p>
        </p:txBody>
      </p:sp>
      <p:sp>
        <p:nvSpPr>
          <p:cNvPr id="63" name="Rectangle 62"/>
          <p:cNvSpPr/>
          <p:nvPr/>
        </p:nvSpPr>
        <p:spPr>
          <a:xfrm>
            <a:off x="6400800" y="4178808"/>
            <a:ext cx="5303520" cy="347472"/>
          </a:xfrm>
          <a:prstGeom prst="rect">
            <a:avLst/>
          </a:prstGeom>
          <a:solidFill>
            <a:srgbClr val="9C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73952" y="4224528"/>
            <a:ext cx="5212080" cy="301752"/>
          </a:xfrm>
          <a:prstGeom prst="rect">
            <a:avLst/>
          </a:prstGeom>
          <a:noFill/>
        </p:spPr>
        <p:txBody>
          <a:bodyPr wrap="square">
            <a:spAutoFit/>
          </a:bodyPr>
          <a:lstStyle/>
          <a:p>
            <a:pPr algn="l"/>
            <a:r>
              <a:rPr sz="1300" b="0" i="0">
                <a:solidFill>
                  <a:srgbClr val="FFFFFF"/>
                </a:solidFill>
                <a:latin typeface="Segoe UI"/>
              </a:rPr>
              <a:t>QR code PNG encoding the join URL</a:t>
            </a:r>
          </a:p>
        </p:txBody>
      </p:sp>
      <p:sp>
        <p:nvSpPr>
          <p:cNvPr id="65" name="Rectangle 64"/>
          <p:cNvSpPr/>
          <p:nvPr/>
        </p:nvSpPr>
        <p:spPr>
          <a:xfrm>
            <a:off x="365760" y="4526280"/>
            <a:ext cx="100584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38912" y="4572000"/>
            <a:ext cx="914400" cy="301752"/>
          </a:xfrm>
          <a:prstGeom prst="rect">
            <a:avLst/>
          </a:prstGeom>
          <a:noFill/>
        </p:spPr>
        <p:txBody>
          <a:bodyPr wrap="square">
            <a:spAutoFit/>
          </a:bodyPr>
          <a:lstStyle/>
          <a:p>
            <a:pPr algn="l"/>
            <a:r>
              <a:rPr sz="1300" b="0" i="0">
                <a:solidFill>
                  <a:srgbClr val="FFFFFF"/>
                </a:solidFill>
                <a:latin typeface="Segoe UI"/>
              </a:rPr>
              <a:t>GET</a:t>
            </a:r>
          </a:p>
        </p:txBody>
      </p:sp>
      <p:sp>
        <p:nvSpPr>
          <p:cNvPr id="67" name="Rectangle 66"/>
          <p:cNvSpPr/>
          <p:nvPr/>
        </p:nvSpPr>
        <p:spPr>
          <a:xfrm>
            <a:off x="1371600" y="4526280"/>
            <a:ext cx="502920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444752" y="4572000"/>
            <a:ext cx="4937760" cy="301752"/>
          </a:xfrm>
          <a:prstGeom prst="rect">
            <a:avLst/>
          </a:prstGeom>
          <a:noFill/>
        </p:spPr>
        <p:txBody>
          <a:bodyPr wrap="square">
            <a:spAutoFit/>
          </a:bodyPr>
          <a:lstStyle/>
          <a:p>
            <a:pPr algn="l"/>
            <a:r>
              <a:rPr sz="1300" b="0" i="0">
                <a:solidFill>
                  <a:srgbClr val="FFFFFF"/>
                </a:solidFill>
                <a:latin typeface="Segoe UI"/>
              </a:rPr>
              <a:t>/api/appqr</a:t>
            </a:r>
          </a:p>
        </p:txBody>
      </p:sp>
      <p:sp>
        <p:nvSpPr>
          <p:cNvPr id="69" name="Rectangle 68"/>
          <p:cNvSpPr/>
          <p:nvPr/>
        </p:nvSpPr>
        <p:spPr>
          <a:xfrm>
            <a:off x="6400800" y="4526280"/>
            <a:ext cx="5303520" cy="347472"/>
          </a:xfrm>
          <a:prstGeom prst="rect">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73952" y="4572000"/>
            <a:ext cx="5212080" cy="301752"/>
          </a:xfrm>
          <a:prstGeom prst="rect">
            <a:avLst/>
          </a:prstGeom>
          <a:noFill/>
        </p:spPr>
        <p:txBody>
          <a:bodyPr wrap="square">
            <a:spAutoFit/>
          </a:bodyPr>
          <a:lstStyle/>
          <a:p>
            <a:pPr algn="l"/>
            <a:r>
              <a:rPr sz="1300" b="0" i="0">
                <a:solidFill>
                  <a:srgbClr val="FFFFFF"/>
                </a:solidFill>
                <a:latin typeface="Segoe UI"/>
              </a:rPr>
              <a:t>QR code PNG for app download link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B71C1C"/>
        </a:solidFill>
        <a:effectLst/>
      </p:bgPr>
    </p:bg>
    <p:spTree>
      <p:nvGrpSpPr>
        <p:cNvPr id="1" name=""/>
        <p:cNvGrpSpPr/>
        <p:nvPr/>
      </p:nvGrpSpPr>
      <p:grpSpPr/>
      <p:sp>
        <p:nvSpPr>
          <p:cNvPr id="2" name="Oval 1"/>
          <p:cNvSpPr/>
          <p:nvPr/>
        </p:nvSpPr>
        <p:spPr>
          <a:xfrm>
            <a:off x="9601200" y="-457200"/>
            <a:ext cx="3657600" cy="3657600"/>
          </a:xfrm>
          <a:prstGeom prst="ellipse">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0" y="4114800"/>
            <a:ext cx="3200400" cy="3200400"/>
          </a:xfrm>
          <a:prstGeom prst="ellipse">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286000" cy="2286000"/>
          </a:xfrm>
          <a:prstGeom prst="ellipse">
            <a:avLst/>
          </a:prstGeom>
          <a:solidFill>
            <a:srgbClr val="8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560320"/>
            <a:ext cx="164592" cy="2011680"/>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560320"/>
            <a:ext cx="10058400" cy="1005840"/>
          </a:xfrm>
          <a:prstGeom prst="rect">
            <a:avLst/>
          </a:prstGeom>
          <a:noFill/>
        </p:spPr>
        <p:txBody>
          <a:bodyPr wrap="square">
            <a:spAutoFit/>
          </a:bodyPr>
          <a:lstStyle/>
          <a:p>
            <a:pPr algn="l"/>
            <a:r>
              <a:rPr sz="5200" b="1" i="0">
                <a:solidFill>
                  <a:srgbClr val="FFFFFF"/>
                </a:solidFill>
                <a:latin typeface="Segoe UI"/>
              </a:rPr>
              <a:t>Project Complete</a:t>
            </a:r>
          </a:p>
        </p:txBody>
      </p:sp>
      <p:sp>
        <p:nvSpPr>
          <p:cNvPr id="7" name="TextBox 6"/>
          <p:cNvSpPr txBox="1"/>
          <p:nvPr/>
        </p:nvSpPr>
        <p:spPr>
          <a:xfrm>
            <a:off x="457200" y="3611880"/>
            <a:ext cx="10058400" cy="594360"/>
          </a:xfrm>
          <a:prstGeom prst="rect">
            <a:avLst/>
          </a:prstGeom>
          <a:noFill/>
        </p:spPr>
        <p:txBody>
          <a:bodyPr wrap="square">
            <a:spAutoFit/>
          </a:bodyPr>
          <a:lstStyle/>
          <a:p>
            <a:pPr algn="l"/>
            <a:r>
              <a:rPr sz="2600" b="1" i="0">
                <a:solidFill>
                  <a:srgbClr val="FFA726"/>
                </a:solidFill>
                <a:latin typeface="Segoe UI"/>
              </a:rPr>
              <a:t>De Slimste Mens Timer</a:t>
            </a:r>
          </a:p>
        </p:txBody>
      </p:sp>
      <p:sp>
        <p:nvSpPr>
          <p:cNvPr id="8" name="TextBox 7"/>
          <p:cNvSpPr txBox="1"/>
          <p:nvPr/>
        </p:nvSpPr>
        <p:spPr>
          <a:xfrm>
            <a:off x="457200" y="4251960"/>
            <a:ext cx="10515600" cy="1828800"/>
          </a:xfrm>
          <a:prstGeom prst="rect">
            <a:avLst/>
          </a:prstGeom>
          <a:noFill/>
        </p:spPr>
        <p:txBody>
          <a:bodyPr wrap="square">
            <a:spAutoFit/>
          </a:bodyPr>
          <a:lstStyle/>
          <a:p>
            <a:pPr>
              <a:spcBef>
                <a:spcPts val="400"/>
              </a:spcBef>
            </a:pPr>
            <a:r>
              <a:rPr sz="1800">
                <a:solidFill>
                  <a:srgbClr val="FFFFFF"/>
                </a:solidFill>
                <a:latin typeface="Segoe UI"/>
              </a:rPr>
              <a:t>•  Delphi / FireMonkey Android app — 9 steps, Phase 1</a:t>
            </a:r>
          </a:p>
          <a:p>
            <a:pPr>
              <a:spcBef>
                <a:spcPts val="400"/>
              </a:spcBef>
            </a:pPr>
            <a:r>
              <a:rPr sz="1800">
                <a:solidFill>
                  <a:srgbClr val="FFFFFF"/>
                </a:solidFill>
                <a:latin typeface="Segoe UI"/>
              </a:rPr>
              <a:t>•  ASP.NET Core 8 server + real-time SignalR scoreboard — Phase 2</a:t>
            </a:r>
          </a:p>
          <a:p>
            <a:pPr>
              <a:spcBef>
                <a:spcPts val="400"/>
              </a:spcBef>
            </a:pPr>
            <a:r>
              <a:rPr sz="1800">
                <a:solidFill>
                  <a:srgbClr val="FFFFFF"/>
                </a:solidFill>
                <a:latin typeface="Segoe UI"/>
              </a:rPr>
              <a:t>•  Each step proposed, reviewed, and approved before execution</a:t>
            </a:r>
          </a:p>
          <a:p>
            <a:pPr>
              <a:spcBef>
                <a:spcPts val="400"/>
              </a:spcBef>
            </a:pPr>
            <a:r>
              <a:rPr sz="1800">
                <a:solidFill>
                  <a:srgbClr val="FFFFFF"/>
                </a:solidFill>
                <a:latin typeface="Segoe UI"/>
              </a:rPr>
              <a:t>•  Built entirely with Claude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